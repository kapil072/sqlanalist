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74d0b7-dbca-76df-55ed-bc42f4803f0c}">
          <p14:sldIdLst>
            <p14:sldId id="256"/>
            <p14:sldId id="257"/>
          </p14:sldIdLst>
        </p14:section>
        <p14:section name="How it works" id="{f2760389-d578-ad78-4719-7dcb8842ca8c}">
          <p14:sldIdLst>
            <p14:sldId id="258"/>
            <p14:sldId id="259"/>
            <p14:sldId id="260"/>
          </p14:sldIdLst>
        </p14:section>
        <p14:section name="Product" id="{76c719b3-8f97-2c39-d2fe-59a36b92c1ef}">
          <p14:sldIdLst>
            <p14:sldId id="261"/>
            <p14:sldId id="262"/>
          </p14:sldIdLst>
        </p14:section>
        <p14:section name="Wrap-up" id="{a9f7a04e-1a0b-204f-b6ff-50beda030ca5}">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SQLAnalyst: an AI assistant that lets anyone ask a database a question in plain English. It writes the SQL, checks that the SQL is safe, runs it read-only, and answers with a table, a chart and a short explanation. In the next minutes I will cover the problem, the architecture, how a question flows through the system, how it stays safe, the main features, and what I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business staff need answers that live in SQL databases, but most of them cannot write SQL. So every question goes to an analyst and waits in a queue, and giving everyone direct database access is risky. From this I set six requirements: ask in plain English, never harm the data, work with the common databases, give answers people understand, support roles with an audit trail, and allow questions about uploaded CSV or Excel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one rule: the browser only ever talks to the FastAPI backend. The Next.js frontend handles the chat, the SQL console, the schema diagram and the admin panel. Inside the backend there are four parts: authentication and roles, the query pipeline that talks to the AI, the SQL safety validator, and conversation memory plus file handling. Below it: Groq hosts the Llama model, the app database stores users, history and the audit log, and the databases users ask about are only ever read. Redis is an optional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when someone asks a question. The browser posts it to /ask/stream. The backend checks the login token and recalls the three most similar earlier answers from this conversation. It looks up the chosen database, so the AI and the safety checks use that database's own tables and SQL dialect. Groq writes the SQL, unless the user typed SQL themselves. Step five, highlighted, is the key one: the SQL must pass 11 safety checks. It then runs read-only, and the answer streams back: the table and chart appear first, then the explanation word by word. Finally the turn is saved. The screenshot is a real answer from the app: total revenue by product category, with an automatic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the heart of the project, because the AI writes SQL that runs on real data. Every query, whether written by the AI or typed by a user, passes eleven checks. Checks one to four are quick text checks. Five to eight parse the SQL with sqlglot into a syntax tree, so a DELETE hidden inside a subquery is still caught. Nine to eleven are database rules: no system tables, only this database's tables, and a row cap is always added. Even after that, the query runs in a transaction that is always rolled back, with a timeout. In the screenshot I typed a DELETE into the console and it was refused before reaching MySQL. Admins can change data, but only after confirming, and changes to a whole table need a second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help non-technical users understand their data. On the left, the schema diagram: one click in the sidebar opens every table with its columns, primary keys and foreign keys, and the lines show how tables connect. Clicking orders highlights its links to customers and order_items. On the right, when an answer uses a JOIN, a Joins tab draws it as two circles: the dark middle is the rows found in both tables, and the sentence explains it, here an inner join of order_items and products on product_id.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get an admin panel with usage numbers, user management, the audit log and data-source management, where they can connect PostgreSQL, MySQL, SQL Server, Oracle or SQLite databases and test the connection first. In front is the SQL console with a safe read-only result. On the right are the security measures: verified accounts with bcrypt and email codes, short-lived tokens that logout revokes everywhere, rate limits against password guessing, encrypted data-source passwords, confirmed admin changes, and a full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SQLAnalyst is working end to end, with 39 API endpoints, 68 automated backend tests, an 11-check SQL safety engine and support for five database types. The next steps I would take are proper database migrations with Alembic, keeping chat memory outside server RAM, sending the AI only the tables relevant to a question so very large databases fit, and end-to-end UI tests. Thank you, I am happy to take questions or show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03504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40080" y="2697480"/>
            <a:ext cx="5852160" cy="114300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1">
                    <a:alpha val="55000"/>
                  </a:schemeClr>
                </a:solidFill>
              </a:rPr>
              <a:t>SQLAnalyst  ·  Trainee final evaluation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868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035040" cy="1097280"/>
          </a:xfrm>
          <a:prstGeom prst="rect">
            <a:avLst/>
          </a:prstGeom>
          <a:noFill/>
          <a:ln/>
        </p:spPr>
        <p:txBody>
          <a:bodyPr wrap="square" lIns="0" tIns="0" rIns="0" bIns="0" rtlCol="0" anchor="b"/>
          <a:lstStyle/>
          <a:p>
            <a:pPr algn="l" indent="0" marL="0">
              <a:buNone/>
            </a:pPr>
            <a:r>
              <a:rPr lang="en-US" sz="6000" b="1" dirty="0">
                <a:solidFill>
                  <a:schemeClr val="bg1"/>
                </a:solidFill>
              </a:rPr>
              <a:t>SQLAnalyst</a:t>
            </a:r>
            <a:endParaRPr lang="en-US" sz="6000" dirty="0"/>
          </a:p>
        </p:txBody>
      </p:sp>
      <p:sp>
        <p:nvSpPr>
          <p:cNvPr id="3" name="Text 0"/>
          <p:cNvSpPr/>
          <p:nvPr>
            <p:ph idx="101" type="body" hasCustomPrompt="1"/>
          </p:nvPr>
        </p:nvSpPr>
        <p:spPr>
          <a:xfrm>
            <a:off x="640080" y="2697480"/>
            <a:ext cx="5852160" cy="1143000"/>
          </a:xfrm>
          <a:prstGeom prst="rect">
            <a:avLst/>
          </a:prstGeom>
          <a:noFill/>
          <a:ln/>
        </p:spPr>
        <p:txBody>
          <a:bodyPr wrap="square" lIns="0" tIns="0" rIns="0" bIns="0" rtlCol="0" anchor="t"/>
          <a:lstStyle/>
          <a:p>
            <a:pPr indent="0" marL="0">
              <a:buNone/>
            </a:pPr>
            <a:r>
              <a:rPr lang="en-US" sz="2200" dirty="0">
                <a:solidFill>
                  <a:schemeClr val="accent5"/>
                </a:solidFill>
              </a:rPr>
              <a:t>Ask your database in plain English — get safe SQL, a table, a chart and an explanation</a:t>
            </a:r>
            <a:endParaRPr lang="en-US" sz="2200" dirty="0"/>
          </a:p>
        </p:txBody>
      </p:sp>
      <p:sp>
        <p:nvSpPr>
          <p:cNvPr id="4" name="pill 1"/>
          <p:cNvSpPr/>
          <p:nvPr/>
        </p:nvSpPr>
        <p:spPr>
          <a:xfrm>
            <a:off x="640080" y="4069080"/>
            <a:ext cx="2034540" cy="384048"/>
          </a:xfrm>
          <a:prstGeom prst="roundRect">
            <a:avLst>
              <a:gd name="adj" fmla="val 50000"/>
            </a:avLst>
          </a:prstGeom>
          <a:solidFill>
            <a:schemeClr val="accent2"/>
          </a:solidFill>
          <a:ln w="9525">
            <a:solidFill>
              <a:schemeClr val="accent1"/>
            </a:solidFill>
            <a:prstDash val="solid"/>
          </a:ln>
        </p:spPr>
      </p:sp>
      <p:sp>
        <p:nvSpPr>
          <p:cNvPr id="5" name="pill text 1"/>
          <p:cNvSpPr txBox="1"/>
          <p:nvPr/>
        </p:nvSpPr>
        <p:spPr>
          <a:xfrm>
            <a:off x="640080" y="4069080"/>
            <a:ext cx="2034540" cy="384048"/>
          </a:xfrm>
          <a:prstGeom prst="rect">
            <a:avLst/>
          </a:prstGeom>
          <a:noFill/>
          <a:ln/>
        </p:spPr>
        <p:txBody>
          <a:bodyPr wrap="square" lIns="0" tIns="0" rIns="0" bIns="0" rtlCol="0" anchor="ctr"/>
          <a:lstStyle/>
          <a:p>
            <a:pPr algn="ctr" indent="0" marL="0">
              <a:buNone/>
            </a:pPr>
            <a:r>
              <a:rPr lang="en-US" sz="1400" b="1" dirty="0">
                <a:solidFill>
                  <a:schemeClr val="bg1"/>
                </a:solidFill>
              </a:rPr>
              <a:t>Plain English → SQL</a:t>
            </a:r>
            <a:endParaRPr lang="en-US" sz="1400" dirty="0"/>
          </a:p>
        </p:txBody>
      </p:sp>
      <p:sp>
        <p:nvSpPr>
          <p:cNvPr id="6" name="pill 2"/>
          <p:cNvSpPr/>
          <p:nvPr/>
        </p:nvSpPr>
        <p:spPr>
          <a:xfrm>
            <a:off x="2857500" y="4069080"/>
            <a:ext cx="1773936" cy="384048"/>
          </a:xfrm>
          <a:prstGeom prst="roundRect">
            <a:avLst>
              <a:gd name="adj" fmla="val 50000"/>
            </a:avLst>
          </a:prstGeom>
          <a:solidFill>
            <a:schemeClr val="accent2"/>
          </a:solidFill>
          <a:ln w="9525">
            <a:solidFill>
              <a:schemeClr val="accent1"/>
            </a:solidFill>
            <a:prstDash val="solid"/>
          </a:ln>
        </p:spPr>
      </p:sp>
      <p:sp>
        <p:nvSpPr>
          <p:cNvPr id="7" name="pill text 2"/>
          <p:cNvSpPr txBox="1"/>
          <p:nvPr/>
        </p:nvSpPr>
        <p:spPr>
          <a:xfrm>
            <a:off x="2857500" y="4069080"/>
            <a:ext cx="1773936" cy="384048"/>
          </a:xfrm>
          <a:prstGeom prst="rect">
            <a:avLst/>
          </a:prstGeom>
          <a:noFill/>
          <a:ln/>
        </p:spPr>
        <p:txBody>
          <a:bodyPr wrap="square" lIns="0" tIns="0" rIns="0" bIns="0" rtlCol="0" anchor="ctr"/>
          <a:lstStyle/>
          <a:p>
            <a:pPr algn="ctr" indent="0" marL="0">
              <a:buNone/>
            </a:pPr>
            <a:r>
              <a:rPr lang="en-US" sz="1400" b="1" dirty="0">
                <a:solidFill>
                  <a:schemeClr val="bg1"/>
                </a:solidFill>
              </a:rPr>
              <a:t>11 safety checks</a:t>
            </a:r>
            <a:endParaRPr lang="en-US" sz="1400" dirty="0"/>
          </a:p>
        </p:txBody>
      </p:sp>
      <p:sp>
        <p:nvSpPr>
          <p:cNvPr id="8" name="pill 3"/>
          <p:cNvSpPr/>
          <p:nvPr/>
        </p:nvSpPr>
        <p:spPr>
          <a:xfrm>
            <a:off x="4814316" y="4069080"/>
            <a:ext cx="1773936" cy="384048"/>
          </a:xfrm>
          <a:prstGeom prst="roundRect">
            <a:avLst>
              <a:gd name="adj" fmla="val 50000"/>
            </a:avLst>
          </a:prstGeom>
          <a:solidFill>
            <a:schemeClr val="accent2"/>
          </a:solidFill>
          <a:ln w="9525">
            <a:solidFill>
              <a:schemeClr val="accent1"/>
            </a:solidFill>
            <a:prstDash val="solid"/>
          </a:ln>
        </p:spPr>
      </p:sp>
      <p:sp>
        <p:nvSpPr>
          <p:cNvPr id="9" name="pill text 3"/>
          <p:cNvSpPr txBox="1"/>
          <p:nvPr/>
        </p:nvSpPr>
        <p:spPr>
          <a:xfrm>
            <a:off x="4814316" y="4069080"/>
            <a:ext cx="1773936" cy="384048"/>
          </a:xfrm>
          <a:prstGeom prst="rect">
            <a:avLst/>
          </a:prstGeom>
          <a:noFill/>
          <a:ln/>
        </p:spPr>
        <p:txBody>
          <a:bodyPr wrap="square" lIns="0" tIns="0" rIns="0" bIns="0" rtlCol="0" anchor="ctr"/>
          <a:lstStyle/>
          <a:p>
            <a:pPr algn="ctr" indent="0" marL="0">
              <a:buNone/>
            </a:pPr>
            <a:r>
              <a:rPr lang="en-US" sz="1400" b="1" dirty="0">
                <a:solidFill>
                  <a:schemeClr val="bg1"/>
                </a:solidFill>
              </a:rPr>
              <a:t>5 database types</a:t>
            </a:r>
            <a:endParaRPr lang="en-US" sz="1400" dirty="0"/>
          </a:p>
        </p:txBody>
      </p:sp>
      <p:sp>
        <p:nvSpPr>
          <p:cNvPr id="10" name="presenter"/>
          <p:cNvSpPr txBox="1"/>
          <p:nvPr/>
        </p:nvSpPr>
        <p:spPr>
          <a:xfrm>
            <a:off x="640080" y="5257800"/>
            <a:ext cx="5852160" cy="365760"/>
          </a:xfrm>
          <a:prstGeom prst="rect">
            <a:avLst/>
          </a:prstGeom>
          <a:noFill/>
          <a:ln/>
        </p:spPr>
        <p:txBody>
          <a:bodyPr wrap="square" lIns="0" tIns="0" rIns="0" bIns="0" rtlCol="0" anchor="ctr"/>
          <a:lstStyle/>
          <a:p>
            <a:pPr indent="0" marL="0">
              <a:buNone/>
            </a:pPr>
            <a:r>
              <a:rPr lang="en-US" sz="1600" dirty="0">
                <a:solidFill>
                  <a:schemeClr val="bg1">
                    <a:alpha val="75000"/>
                  </a:schemeClr>
                </a:solidFill>
              </a:rPr>
              <a:t>Kapil Sen  ·  Trainee final evaluation  ·  October 2026</a:t>
            </a:r>
            <a:endParaRPr lang="en-US" sz="1600" dirty="0"/>
          </a:p>
        </p:txBody>
      </p:sp>
      <p:sp>
        <p:nvSpPr>
          <p:cNvPr id="11" name="login frame"/>
          <p:cNvSpPr/>
          <p:nvPr/>
        </p:nvSpPr>
        <p:spPr>
          <a:xfrm>
            <a:off x="7482535" y="1164717"/>
            <a:ext cx="4023360" cy="4528566"/>
          </a:xfrm>
          <a:prstGeom prst="roundRect">
            <a:avLst>
              <a:gd name="adj" fmla="val 1818"/>
            </a:avLst>
          </a:prstGeom>
          <a:solidFill>
            <a:schemeClr val="bg2"/>
          </a:solidFill>
          <a:ln w="9525">
            <a:solidFill>
              <a:schemeClr val="accent5"/>
            </a:solidFill>
            <a:prstDash val="solid"/>
          </a:ln>
          <a:effectLst>
            <a:outerShdw sx="100000" sy="100000" kx="0" ky="0" algn="bl" rotWithShape="0" blurRad="127000" dist="38100" dir="5400000">
              <a:srgbClr val="0F172A">
                <a:alpha val="14000"/>
              </a:srgbClr>
            </a:outerShdw>
          </a:effectLst>
        </p:spPr>
      </p:sp>
      <p:sp>
        <p:nvSpPr>
          <p:cNvPr id="12" name="login dot 1"/>
          <p:cNvSpPr/>
          <p:nvPr/>
        </p:nvSpPr>
        <p:spPr>
          <a:xfrm>
            <a:off x="7610551" y="1256157"/>
            <a:ext cx="91440" cy="91440"/>
          </a:xfrm>
          <a:prstGeom prst="ellipse">
            <a:avLst/>
          </a:prstGeom>
          <a:solidFill>
            <a:schemeClr val="accent6"/>
          </a:solidFill>
          <a:ln w="12700">
            <a:solidFill>
              <a:schemeClr val="accent6"/>
            </a:solidFill>
            <a:prstDash val="solid"/>
          </a:ln>
        </p:spPr>
      </p:sp>
      <p:sp>
        <p:nvSpPr>
          <p:cNvPr id="13" name="login dot 2"/>
          <p:cNvSpPr/>
          <p:nvPr/>
        </p:nvSpPr>
        <p:spPr>
          <a:xfrm>
            <a:off x="7756855" y="1256157"/>
            <a:ext cx="91440" cy="91440"/>
          </a:xfrm>
          <a:prstGeom prst="ellipse">
            <a:avLst/>
          </a:prstGeom>
          <a:solidFill>
            <a:schemeClr val="accent3"/>
          </a:solidFill>
          <a:ln w="12700">
            <a:solidFill>
              <a:schemeClr val="accent3"/>
            </a:solidFill>
            <a:prstDash val="solid"/>
          </a:ln>
        </p:spPr>
      </p:sp>
      <p:sp>
        <p:nvSpPr>
          <p:cNvPr id="14" name="login dot 3"/>
          <p:cNvSpPr/>
          <p:nvPr/>
        </p:nvSpPr>
        <p:spPr>
          <a:xfrm>
            <a:off x="7903159" y="1256157"/>
            <a:ext cx="91440" cy="91440"/>
          </a:xfrm>
          <a:prstGeom prst="ellipse">
            <a:avLst/>
          </a:prstGeom>
          <a:solidFill>
            <a:schemeClr val="accent1"/>
          </a:solidFill>
          <a:ln w="12700">
            <a:solidFill>
              <a:schemeClr val="accent1"/>
            </a:solidFill>
            <a:prstDash val="solid"/>
          </a:ln>
        </p:spPr>
      </p:sp>
      <p:sp>
        <p:nvSpPr>
          <p:cNvPr id="15" name="login address"/>
          <p:cNvSpPr txBox="1"/>
          <p:nvPr/>
        </p:nvSpPr>
        <p:spPr>
          <a:xfrm>
            <a:off x="8122615" y="1192149"/>
            <a:ext cx="2743200" cy="219456"/>
          </a:xfrm>
          <a:prstGeom prst="rect">
            <a:avLst/>
          </a:prstGeom>
          <a:noFill/>
          <a:ln/>
        </p:spPr>
        <p:txBody>
          <a:bodyPr wrap="square" lIns="0" tIns="0" rIns="0" bIns="0" rtlCol="0" anchor="ctr"/>
          <a:lstStyle/>
          <a:p>
            <a:pPr algn="ctr" indent="0" marL="0">
              <a:buNone/>
            </a:pPr>
            <a:r>
              <a:rPr lang="en-US" sz="1000" dirty="0">
                <a:solidFill>
                  <a:schemeClr val="tx1">
                    <a:alpha val="60000"/>
                  </a:schemeClr>
                </a:solidFill>
              </a:rPr>
              <a:t>localhost:3000/auth</a:t>
            </a:r>
            <a:endParaRPr lang="en-US" sz="1000" dirty="0"/>
          </a:p>
        </p:txBody>
      </p:sp>
      <p:pic>
        <p:nvPicPr>
          <p:cNvPr id="16" name="login screenshot" descr="login screenshot">    </p:cNvPr>
          <p:cNvPicPr>
            <a:picLocks noChangeAspect="1"/>
          </p:cNvPicPr>
          <p:nvPr/>
        </p:nvPicPr>
        <p:blipFill>
          <a:blip r:embed="rId1"/>
          <a:stretch>
            <a:fillRect/>
          </a:stretch>
        </p:blipFill>
        <p:spPr>
          <a:xfrm>
            <a:off x="7500823" y="1439037"/>
            <a:ext cx="3986784" cy="42359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Business answers are locked inside SQL databases</a:t>
            </a:r>
            <a:endParaRPr lang="en-US" sz="3600" dirty="0"/>
          </a:p>
        </p:txBody>
      </p:sp>
      <p:sp>
        <p:nvSpPr>
          <p:cNvPr id="3" name="problem header"/>
          <p:cNvSpPr txBox="1"/>
          <p:nvPr/>
        </p:nvSpPr>
        <p:spPr>
          <a:xfrm>
            <a:off x="548640" y="1371600"/>
            <a:ext cx="3931920" cy="365760"/>
          </a:xfrm>
          <a:prstGeom prst="rect">
            <a:avLst/>
          </a:prstGeom>
          <a:noFill/>
          <a:ln/>
        </p:spPr>
        <p:txBody>
          <a:bodyPr wrap="square" lIns="0" tIns="0" rIns="0" bIns="0" rtlCol="0" anchor="ctr"/>
          <a:lstStyle/>
          <a:p>
            <a:pPr indent="0" marL="0">
              <a:buNone/>
            </a:pPr>
            <a:r>
              <a:rPr lang="en-US" sz="2000" b="1" dirty="0">
                <a:solidFill>
                  <a:schemeClr val="accent2"/>
                </a:solidFill>
              </a:rPr>
              <a:t>The problem</a:t>
            </a:r>
            <a:endParaRPr lang="en-US" sz="2000" dirty="0"/>
          </a:p>
        </p:txBody>
      </p:sp>
      <p:sp>
        <p:nvSpPr>
          <p:cNvPr id="4" name="problem 1 circle"/>
          <p:cNvSpPr/>
          <p:nvPr/>
        </p:nvSpPr>
        <p:spPr>
          <a:xfrm>
            <a:off x="548640" y="1920240"/>
            <a:ext cx="502920" cy="502920"/>
          </a:xfrm>
          <a:prstGeom prst="ellipse">
            <a:avLst/>
          </a:prstGeom>
          <a:solidFill>
            <a:schemeClr val="bg2"/>
          </a:solidFill>
          <a:ln w="12700">
            <a:solidFill>
              <a:schemeClr val="bg2"/>
            </a:solidFill>
            <a:prstDash val="solid"/>
          </a:ln>
        </p:spPr>
      </p:sp>
      <p:pic>
        <p:nvPicPr>
          <p:cNvPr id="5" name="problem 1 icon" descr="preencoded.png">    </p:cNvPr>
          <p:cNvPicPr>
            <a:picLocks noChangeAspect="1"/>
          </p:cNvPicPr>
          <p:nvPr/>
        </p:nvPicPr>
        <p:blipFill>
          <a:blip r:embed="rId1"/>
          <a:stretch>
            <a:fillRect/>
          </a:stretch>
        </p:blipFill>
        <p:spPr>
          <a:xfrm>
            <a:off x="669341" y="2040941"/>
            <a:ext cx="261518" cy="261518"/>
          </a:xfrm>
          <a:prstGeom prst="rect">
            <a:avLst/>
          </a:prstGeom>
        </p:spPr>
      </p:pic>
      <p:sp>
        <p:nvSpPr>
          <p:cNvPr id="6" name="problem title 1"/>
          <p:cNvSpPr txBox="1"/>
          <p:nvPr/>
        </p:nvSpPr>
        <p:spPr>
          <a:xfrm>
            <a:off x="1234440" y="1901952"/>
            <a:ext cx="3429000" cy="292608"/>
          </a:xfrm>
          <a:prstGeom prst="rect">
            <a:avLst/>
          </a:prstGeom>
          <a:noFill/>
          <a:ln/>
        </p:spPr>
        <p:txBody>
          <a:bodyPr wrap="square" lIns="0" tIns="0" rIns="0" bIns="0" rtlCol="0" anchor="ctr"/>
          <a:lstStyle/>
          <a:p>
            <a:pPr indent="0" marL="0">
              <a:buNone/>
            </a:pPr>
            <a:r>
              <a:rPr lang="en-US" sz="1600" b="1" dirty="0">
                <a:solidFill>
                  <a:schemeClr val="tx1"/>
                </a:solidFill>
              </a:rPr>
              <a:t>Most staff cannot write SQL</a:t>
            </a:r>
            <a:endParaRPr lang="en-US" sz="1600" dirty="0"/>
          </a:p>
        </p:txBody>
      </p:sp>
      <p:sp>
        <p:nvSpPr>
          <p:cNvPr id="7" name="problem text 1"/>
          <p:cNvSpPr txBox="1"/>
          <p:nvPr/>
        </p:nvSpPr>
        <p:spPr>
          <a:xfrm>
            <a:off x="1234440" y="2194560"/>
            <a:ext cx="3429000" cy="457200"/>
          </a:xfrm>
          <a:prstGeom prst="rect">
            <a:avLst/>
          </a:prstGeom>
          <a:noFill/>
          <a:ln/>
        </p:spPr>
        <p:txBody>
          <a:bodyPr wrap="square" lIns="0" tIns="0" rIns="0" bIns="0" rtlCol="0" anchor="t"/>
          <a:lstStyle/>
          <a:p>
            <a:pPr indent="0" marL="0">
              <a:buNone/>
            </a:pPr>
            <a:r>
              <a:rPr lang="en-US" sz="1400" dirty="0">
                <a:solidFill>
                  <a:schemeClr val="tx1">
                    <a:alpha val="70000"/>
                  </a:schemeClr>
                </a:solidFill>
              </a:rPr>
              <a:t>Every new question waits for an analyst.</a:t>
            </a:r>
            <a:endParaRPr lang="en-US" sz="1400" dirty="0"/>
          </a:p>
        </p:txBody>
      </p:sp>
      <p:sp>
        <p:nvSpPr>
          <p:cNvPr id="8" name="problem 2 circle"/>
          <p:cNvSpPr/>
          <p:nvPr/>
        </p:nvSpPr>
        <p:spPr>
          <a:xfrm>
            <a:off x="548640" y="2788920"/>
            <a:ext cx="502920" cy="502920"/>
          </a:xfrm>
          <a:prstGeom prst="ellipse">
            <a:avLst/>
          </a:prstGeom>
          <a:solidFill>
            <a:schemeClr val="bg2"/>
          </a:solidFill>
          <a:ln w="12700">
            <a:solidFill>
              <a:schemeClr val="bg2"/>
            </a:solidFill>
            <a:prstDash val="solid"/>
          </a:ln>
        </p:spPr>
      </p:sp>
      <p:pic>
        <p:nvPicPr>
          <p:cNvPr id="9" name="problem 2 icon" descr="preencoded.png">    </p:cNvPr>
          <p:cNvPicPr>
            <a:picLocks noChangeAspect="1"/>
          </p:cNvPicPr>
          <p:nvPr/>
        </p:nvPicPr>
        <p:blipFill>
          <a:blip r:embed="rId2"/>
          <a:stretch>
            <a:fillRect/>
          </a:stretch>
        </p:blipFill>
        <p:spPr>
          <a:xfrm>
            <a:off x="669341" y="2909621"/>
            <a:ext cx="261518" cy="261518"/>
          </a:xfrm>
          <a:prstGeom prst="rect">
            <a:avLst/>
          </a:prstGeom>
        </p:spPr>
      </p:pic>
      <p:sp>
        <p:nvSpPr>
          <p:cNvPr id="10" name="problem title 2"/>
          <p:cNvSpPr txBox="1"/>
          <p:nvPr/>
        </p:nvSpPr>
        <p:spPr>
          <a:xfrm>
            <a:off x="1234440" y="2770632"/>
            <a:ext cx="3429000" cy="292608"/>
          </a:xfrm>
          <a:prstGeom prst="rect">
            <a:avLst/>
          </a:prstGeom>
          <a:noFill/>
          <a:ln/>
        </p:spPr>
        <p:txBody>
          <a:bodyPr wrap="square" lIns="0" tIns="0" rIns="0" bIns="0" rtlCol="0" anchor="ctr"/>
          <a:lstStyle/>
          <a:p>
            <a:pPr indent="0" marL="0">
              <a:buNone/>
            </a:pPr>
            <a:r>
              <a:rPr lang="en-US" sz="1600" b="1" dirty="0">
                <a:solidFill>
                  <a:schemeClr val="tx1"/>
                </a:solidFill>
              </a:rPr>
              <a:t>Analysts become a queue</a:t>
            </a:r>
            <a:endParaRPr lang="en-US" sz="1600" dirty="0"/>
          </a:p>
        </p:txBody>
      </p:sp>
      <p:sp>
        <p:nvSpPr>
          <p:cNvPr id="11" name="problem text 2"/>
          <p:cNvSpPr txBox="1"/>
          <p:nvPr/>
        </p:nvSpPr>
        <p:spPr>
          <a:xfrm>
            <a:off x="1234440" y="3063240"/>
            <a:ext cx="3429000" cy="457200"/>
          </a:xfrm>
          <a:prstGeom prst="rect">
            <a:avLst/>
          </a:prstGeom>
          <a:noFill/>
          <a:ln/>
        </p:spPr>
        <p:txBody>
          <a:bodyPr wrap="square" lIns="0" tIns="0" rIns="0" bIns="0" rtlCol="0" anchor="t"/>
          <a:lstStyle/>
          <a:p>
            <a:pPr indent="0" marL="0">
              <a:buNone/>
            </a:pPr>
            <a:r>
              <a:rPr lang="en-US" sz="1400" dirty="0">
                <a:solidFill>
                  <a:schemeClr val="tx1">
                    <a:alpha val="70000"/>
                  </a:schemeClr>
                </a:solidFill>
              </a:rPr>
              <a:t>Simple lookups take days instead of seconds.</a:t>
            </a:r>
            <a:endParaRPr lang="en-US" sz="1400" dirty="0"/>
          </a:p>
        </p:txBody>
      </p:sp>
      <p:sp>
        <p:nvSpPr>
          <p:cNvPr id="12" name="problem 3 circle"/>
          <p:cNvSpPr/>
          <p:nvPr/>
        </p:nvSpPr>
        <p:spPr>
          <a:xfrm>
            <a:off x="548640" y="3657600"/>
            <a:ext cx="502920" cy="502920"/>
          </a:xfrm>
          <a:prstGeom prst="ellipse">
            <a:avLst/>
          </a:prstGeom>
          <a:solidFill>
            <a:schemeClr val="bg2"/>
          </a:solidFill>
          <a:ln w="12700">
            <a:solidFill>
              <a:schemeClr val="bg2"/>
            </a:solidFill>
            <a:prstDash val="solid"/>
          </a:ln>
        </p:spPr>
      </p:sp>
      <p:pic>
        <p:nvPicPr>
          <p:cNvPr id="13" name="problem 3 icon" descr="preencoded.png">    </p:cNvPr>
          <p:cNvPicPr>
            <a:picLocks noChangeAspect="1"/>
          </p:cNvPicPr>
          <p:nvPr/>
        </p:nvPicPr>
        <p:blipFill>
          <a:blip r:embed="rId3"/>
          <a:stretch>
            <a:fillRect/>
          </a:stretch>
        </p:blipFill>
        <p:spPr>
          <a:xfrm>
            <a:off x="669341" y="3778301"/>
            <a:ext cx="261518" cy="261518"/>
          </a:xfrm>
          <a:prstGeom prst="rect">
            <a:avLst/>
          </a:prstGeom>
        </p:spPr>
      </p:pic>
      <p:sp>
        <p:nvSpPr>
          <p:cNvPr id="14" name="problem title 3"/>
          <p:cNvSpPr txBox="1"/>
          <p:nvPr/>
        </p:nvSpPr>
        <p:spPr>
          <a:xfrm>
            <a:off x="1234440" y="3639312"/>
            <a:ext cx="3429000" cy="292608"/>
          </a:xfrm>
          <a:prstGeom prst="rect">
            <a:avLst/>
          </a:prstGeom>
          <a:noFill/>
          <a:ln/>
        </p:spPr>
        <p:txBody>
          <a:bodyPr wrap="square" lIns="0" tIns="0" rIns="0" bIns="0" rtlCol="0" anchor="ctr"/>
          <a:lstStyle/>
          <a:p>
            <a:pPr indent="0" marL="0">
              <a:buNone/>
            </a:pPr>
            <a:r>
              <a:rPr lang="en-US" sz="1600" b="1" dirty="0">
                <a:solidFill>
                  <a:schemeClr val="tx1"/>
                </a:solidFill>
              </a:rPr>
              <a:t>Direct access is risky</a:t>
            </a:r>
            <a:endParaRPr lang="en-US" sz="1600" dirty="0"/>
          </a:p>
        </p:txBody>
      </p:sp>
      <p:sp>
        <p:nvSpPr>
          <p:cNvPr id="15" name="problem text 3"/>
          <p:cNvSpPr txBox="1"/>
          <p:nvPr/>
        </p:nvSpPr>
        <p:spPr>
          <a:xfrm>
            <a:off x="1234440" y="3931920"/>
            <a:ext cx="3429000" cy="457200"/>
          </a:xfrm>
          <a:prstGeom prst="rect">
            <a:avLst/>
          </a:prstGeom>
          <a:noFill/>
          <a:ln/>
        </p:spPr>
        <p:txBody>
          <a:bodyPr wrap="square" lIns="0" tIns="0" rIns="0" bIns="0" rtlCol="0" anchor="t"/>
          <a:lstStyle/>
          <a:p>
            <a:pPr indent="0" marL="0">
              <a:buNone/>
            </a:pPr>
            <a:r>
              <a:rPr lang="en-US" sz="1400" dirty="0">
                <a:solidFill>
                  <a:schemeClr val="tx1">
                    <a:alpha val="70000"/>
                  </a:schemeClr>
                </a:solidFill>
              </a:rPr>
              <a:t>One wrong query can change or leak data.</a:t>
            </a:r>
            <a:endParaRPr lang="en-US" sz="1400" dirty="0"/>
          </a:p>
        </p:txBody>
      </p:sp>
      <p:sp>
        <p:nvSpPr>
          <p:cNvPr id="16" name="goal card"/>
          <p:cNvSpPr/>
          <p:nvPr/>
        </p:nvSpPr>
        <p:spPr>
          <a:xfrm>
            <a:off x="548640" y="4709160"/>
            <a:ext cx="3977640" cy="1325880"/>
          </a:xfrm>
          <a:prstGeom prst="roundRect">
            <a:avLst>
              <a:gd name="adj" fmla="val 8276"/>
            </a:avLst>
          </a:prstGeom>
          <a:solidFill>
            <a:schemeClr val="accent2"/>
          </a:solidFill>
          <a:ln w="12700">
            <a:solidFill>
              <a:schemeClr val="accent2"/>
            </a:solidFill>
            <a:prstDash val="solid"/>
          </a:ln>
        </p:spPr>
      </p:sp>
      <p:sp>
        <p:nvSpPr>
          <p:cNvPr id="17" name="goal text"/>
          <p:cNvSpPr txBox="1"/>
          <p:nvPr/>
        </p:nvSpPr>
        <p:spPr>
          <a:xfrm>
            <a:off x="777240" y="4846320"/>
            <a:ext cx="3566160" cy="1051560"/>
          </a:xfrm>
          <a:prstGeom prst="rect">
            <a:avLst/>
          </a:prstGeom>
          <a:noFill/>
          <a:ln/>
        </p:spPr>
        <p:txBody>
          <a:bodyPr wrap="square" lIns="0" tIns="0" rIns="0" bIns="0" rtlCol="0" anchor="ctr"/>
          <a:lstStyle/>
          <a:p>
            <a:pPr indent="0" marL="0">
              <a:buNone/>
            </a:pPr>
            <a:r>
              <a:rPr lang="en-US" sz="1400" b="1" dirty="0">
                <a:solidFill>
                  <a:schemeClr val="accent5"/>
                </a:solidFill>
              </a:rPr>
              <a:t>Goal</a:t>
            </a:r>
            <a:endParaRPr lang="en-US" sz="1400" dirty="0"/>
          </a:p>
          <a:p>
            <a:pPr indent="0" marL="0">
              <a:buNone/>
            </a:pPr>
            <a:r>
              <a:rPr lang="en-US" sz="1700" b="1" dirty="0">
                <a:solidFill>
                  <a:schemeClr val="bg1"/>
                </a:solidFill>
              </a:rPr>
              <a:t>Let anyone ask in plain English — without ever putting the data at risk.</a:t>
            </a:r>
            <a:endParaRPr lang="en-US" sz="1400" dirty="0"/>
          </a:p>
        </p:txBody>
      </p:sp>
      <p:sp>
        <p:nvSpPr>
          <p:cNvPr id="18" name="requirements header"/>
          <p:cNvSpPr txBox="1"/>
          <p:nvPr/>
        </p:nvSpPr>
        <p:spPr>
          <a:xfrm>
            <a:off x="4937760" y="1371600"/>
            <a:ext cx="6400800" cy="365760"/>
          </a:xfrm>
          <a:prstGeom prst="rect">
            <a:avLst/>
          </a:prstGeom>
          <a:noFill/>
          <a:ln/>
        </p:spPr>
        <p:txBody>
          <a:bodyPr wrap="square" lIns="0" tIns="0" rIns="0" bIns="0" rtlCol="0" anchor="ctr"/>
          <a:lstStyle/>
          <a:p>
            <a:pPr indent="0" marL="0">
              <a:buNone/>
            </a:pPr>
            <a:r>
              <a:rPr lang="en-US" sz="2000" b="1" dirty="0">
                <a:solidFill>
                  <a:schemeClr val="accent2"/>
                </a:solidFill>
              </a:rPr>
              <a:t>What SQLAnalyst must do</a:t>
            </a:r>
            <a:endParaRPr lang="en-US" sz="2000" dirty="0"/>
          </a:p>
        </p:txBody>
      </p:sp>
      <p:sp>
        <p:nvSpPr>
          <p:cNvPr id="19" name="requirement card 1"/>
          <p:cNvSpPr/>
          <p:nvPr/>
        </p:nvSpPr>
        <p:spPr>
          <a:xfrm>
            <a:off x="4937760" y="1874520"/>
            <a:ext cx="3200400" cy="1234440"/>
          </a:xfrm>
          <a:prstGeom prst="roundRect">
            <a:avLst>
              <a:gd name="adj" fmla="val 8889"/>
            </a:avLst>
          </a:prstGeom>
          <a:solidFill>
            <a:schemeClr val="bg2"/>
          </a:solidFill>
          <a:ln w="12700">
            <a:solidFill>
              <a:schemeClr val="bg2"/>
            </a:solidFill>
            <a:prstDash val="solid"/>
          </a:ln>
        </p:spPr>
      </p:sp>
      <p:sp>
        <p:nvSpPr>
          <p:cNvPr id="20" name="requirement 1 circle"/>
          <p:cNvSpPr/>
          <p:nvPr/>
        </p:nvSpPr>
        <p:spPr>
          <a:xfrm>
            <a:off x="5138928" y="2075688"/>
            <a:ext cx="457200" cy="457200"/>
          </a:xfrm>
          <a:prstGeom prst="ellipse">
            <a:avLst/>
          </a:prstGeom>
          <a:solidFill>
            <a:schemeClr val="accent1"/>
          </a:solidFill>
          <a:ln w="12700">
            <a:solidFill>
              <a:schemeClr val="accent1"/>
            </a:solidFill>
            <a:prstDash val="solid"/>
          </a:ln>
        </p:spPr>
      </p:sp>
      <p:pic>
        <p:nvPicPr>
          <p:cNvPr id="21" name="requirement 1 icon" descr="preencoded.png">    </p:cNvPr>
          <p:cNvPicPr>
            <a:picLocks noChangeAspect="1"/>
          </p:cNvPicPr>
          <p:nvPr/>
        </p:nvPicPr>
        <p:blipFill>
          <a:blip r:embed="rId4"/>
          <a:stretch>
            <a:fillRect/>
          </a:stretch>
        </p:blipFill>
        <p:spPr>
          <a:xfrm>
            <a:off x="5248656" y="2185416"/>
            <a:ext cx="237744" cy="237744"/>
          </a:xfrm>
          <a:prstGeom prst="rect">
            <a:avLst/>
          </a:prstGeom>
        </p:spPr>
      </p:pic>
      <p:sp>
        <p:nvSpPr>
          <p:cNvPr id="22" name="requirement title 1"/>
          <p:cNvSpPr txBox="1"/>
          <p:nvPr/>
        </p:nvSpPr>
        <p:spPr>
          <a:xfrm>
            <a:off x="5742432" y="2057400"/>
            <a:ext cx="2240280" cy="292608"/>
          </a:xfrm>
          <a:prstGeom prst="rect">
            <a:avLst/>
          </a:prstGeom>
          <a:noFill/>
          <a:ln/>
        </p:spPr>
        <p:txBody>
          <a:bodyPr wrap="square" lIns="0" tIns="0" rIns="0" bIns="0" rtlCol="0" anchor="ctr"/>
          <a:lstStyle/>
          <a:p>
            <a:pPr indent="0" marL="0">
              <a:buNone/>
            </a:pPr>
            <a:r>
              <a:rPr lang="en-US" sz="1600" b="1" dirty="0">
                <a:solidFill>
                  <a:schemeClr val="tx2"/>
                </a:solidFill>
              </a:rPr>
              <a:t>Ask in plain English</a:t>
            </a:r>
            <a:endParaRPr lang="en-US" sz="1600" dirty="0"/>
          </a:p>
        </p:txBody>
      </p:sp>
      <p:sp>
        <p:nvSpPr>
          <p:cNvPr id="23" name="requirement text 1"/>
          <p:cNvSpPr txBox="1"/>
          <p:nvPr/>
        </p:nvSpPr>
        <p:spPr>
          <a:xfrm>
            <a:off x="5742432" y="2377440"/>
            <a:ext cx="2240280" cy="594360"/>
          </a:xfrm>
          <a:prstGeom prst="rect">
            <a:avLst/>
          </a:prstGeom>
          <a:noFill/>
          <a:ln/>
        </p:spPr>
        <p:txBody>
          <a:bodyPr wrap="square" lIns="0" tIns="0" rIns="0" bIns="0" rtlCol="0" anchor="t"/>
          <a:lstStyle/>
          <a:p>
            <a:pPr indent="0" marL="0">
              <a:buNone/>
            </a:pPr>
            <a:r>
              <a:rPr lang="en-US" sz="1400" dirty="0">
                <a:solidFill>
                  <a:schemeClr val="tx1">
                    <a:alpha val="75000"/>
                  </a:schemeClr>
                </a:solidFill>
              </a:rPr>
              <a:t>Groq's Llama 3.3 turns questions into SQL</a:t>
            </a:r>
            <a:endParaRPr lang="en-US" sz="1400" dirty="0"/>
          </a:p>
        </p:txBody>
      </p:sp>
      <p:sp>
        <p:nvSpPr>
          <p:cNvPr id="24" name="requirement card 2"/>
          <p:cNvSpPr/>
          <p:nvPr/>
        </p:nvSpPr>
        <p:spPr>
          <a:xfrm>
            <a:off x="8366760" y="1874520"/>
            <a:ext cx="3200400" cy="1234440"/>
          </a:xfrm>
          <a:prstGeom prst="roundRect">
            <a:avLst>
              <a:gd name="adj" fmla="val 8889"/>
            </a:avLst>
          </a:prstGeom>
          <a:solidFill>
            <a:schemeClr val="bg2"/>
          </a:solidFill>
          <a:ln w="12700">
            <a:solidFill>
              <a:schemeClr val="bg2"/>
            </a:solidFill>
            <a:prstDash val="solid"/>
          </a:ln>
        </p:spPr>
      </p:sp>
      <p:sp>
        <p:nvSpPr>
          <p:cNvPr id="25" name="requirement 2 circle"/>
          <p:cNvSpPr/>
          <p:nvPr/>
        </p:nvSpPr>
        <p:spPr>
          <a:xfrm>
            <a:off x="8567928" y="2075688"/>
            <a:ext cx="457200" cy="457200"/>
          </a:xfrm>
          <a:prstGeom prst="ellipse">
            <a:avLst/>
          </a:prstGeom>
          <a:solidFill>
            <a:schemeClr val="accent1"/>
          </a:solidFill>
          <a:ln w="12700">
            <a:solidFill>
              <a:schemeClr val="accent1"/>
            </a:solidFill>
            <a:prstDash val="solid"/>
          </a:ln>
        </p:spPr>
      </p:sp>
      <p:pic>
        <p:nvPicPr>
          <p:cNvPr id="26" name="requirement 2 icon" descr="preencoded.png">    </p:cNvPr>
          <p:cNvPicPr>
            <a:picLocks noChangeAspect="1"/>
          </p:cNvPicPr>
          <p:nvPr/>
        </p:nvPicPr>
        <p:blipFill>
          <a:blip r:embed="rId5"/>
          <a:stretch>
            <a:fillRect/>
          </a:stretch>
        </p:blipFill>
        <p:spPr>
          <a:xfrm>
            <a:off x="8677656" y="2185416"/>
            <a:ext cx="237744" cy="237744"/>
          </a:xfrm>
          <a:prstGeom prst="rect">
            <a:avLst/>
          </a:prstGeom>
        </p:spPr>
      </p:pic>
      <p:sp>
        <p:nvSpPr>
          <p:cNvPr id="27" name="requirement title 2"/>
          <p:cNvSpPr txBox="1"/>
          <p:nvPr/>
        </p:nvSpPr>
        <p:spPr>
          <a:xfrm>
            <a:off x="9171432" y="2057400"/>
            <a:ext cx="2240280" cy="292608"/>
          </a:xfrm>
          <a:prstGeom prst="rect">
            <a:avLst/>
          </a:prstGeom>
          <a:noFill/>
          <a:ln/>
        </p:spPr>
        <p:txBody>
          <a:bodyPr wrap="square" lIns="0" tIns="0" rIns="0" bIns="0" rtlCol="0" anchor="ctr"/>
          <a:lstStyle/>
          <a:p>
            <a:pPr indent="0" marL="0">
              <a:buNone/>
            </a:pPr>
            <a:r>
              <a:rPr lang="en-US" sz="1600" b="1" dirty="0">
                <a:solidFill>
                  <a:schemeClr val="tx2"/>
                </a:solidFill>
              </a:rPr>
              <a:t>Never harm the data</a:t>
            </a:r>
            <a:endParaRPr lang="en-US" sz="1600" dirty="0"/>
          </a:p>
        </p:txBody>
      </p:sp>
      <p:sp>
        <p:nvSpPr>
          <p:cNvPr id="28" name="requirement text 2"/>
          <p:cNvSpPr txBox="1"/>
          <p:nvPr/>
        </p:nvSpPr>
        <p:spPr>
          <a:xfrm>
            <a:off x="9171432" y="2377440"/>
            <a:ext cx="2240280" cy="594360"/>
          </a:xfrm>
          <a:prstGeom prst="rect">
            <a:avLst/>
          </a:prstGeom>
          <a:noFill/>
          <a:ln/>
        </p:spPr>
        <p:txBody>
          <a:bodyPr wrap="square" lIns="0" tIns="0" rIns="0" bIns="0" rtlCol="0" anchor="t"/>
          <a:lstStyle/>
          <a:p>
            <a:pPr indent="0" marL="0">
              <a:buNone/>
            </a:pPr>
            <a:r>
              <a:rPr lang="en-US" sz="1400" dirty="0">
                <a:solidFill>
                  <a:schemeClr val="tx1">
                    <a:alpha val="75000"/>
                  </a:schemeClr>
                </a:solidFill>
              </a:rPr>
              <a:t>Read-only SQL, 11 checks, always rolled back</a:t>
            </a:r>
            <a:endParaRPr lang="en-US" sz="1400" dirty="0"/>
          </a:p>
        </p:txBody>
      </p:sp>
      <p:sp>
        <p:nvSpPr>
          <p:cNvPr id="29" name="requirement card 3"/>
          <p:cNvSpPr/>
          <p:nvPr/>
        </p:nvSpPr>
        <p:spPr>
          <a:xfrm>
            <a:off x="4937760" y="3337560"/>
            <a:ext cx="3200400" cy="1234440"/>
          </a:xfrm>
          <a:prstGeom prst="roundRect">
            <a:avLst>
              <a:gd name="adj" fmla="val 8889"/>
            </a:avLst>
          </a:prstGeom>
          <a:solidFill>
            <a:schemeClr val="bg2"/>
          </a:solidFill>
          <a:ln w="12700">
            <a:solidFill>
              <a:schemeClr val="bg2"/>
            </a:solidFill>
            <a:prstDash val="solid"/>
          </a:ln>
        </p:spPr>
      </p:sp>
      <p:sp>
        <p:nvSpPr>
          <p:cNvPr id="30" name="requirement 3 circle"/>
          <p:cNvSpPr/>
          <p:nvPr/>
        </p:nvSpPr>
        <p:spPr>
          <a:xfrm>
            <a:off x="5138928" y="3538728"/>
            <a:ext cx="457200" cy="457200"/>
          </a:xfrm>
          <a:prstGeom prst="ellipse">
            <a:avLst/>
          </a:prstGeom>
          <a:solidFill>
            <a:schemeClr val="accent1"/>
          </a:solidFill>
          <a:ln w="12700">
            <a:solidFill>
              <a:schemeClr val="accent1"/>
            </a:solidFill>
            <a:prstDash val="solid"/>
          </a:ln>
        </p:spPr>
      </p:sp>
      <p:pic>
        <p:nvPicPr>
          <p:cNvPr id="31" name="requirement 3 icon" descr="preencoded.png">    </p:cNvPr>
          <p:cNvPicPr>
            <a:picLocks noChangeAspect="1"/>
          </p:cNvPicPr>
          <p:nvPr/>
        </p:nvPicPr>
        <p:blipFill>
          <a:blip r:embed="rId6"/>
          <a:stretch>
            <a:fillRect/>
          </a:stretch>
        </p:blipFill>
        <p:spPr>
          <a:xfrm>
            <a:off x="5248656" y="3648456"/>
            <a:ext cx="237744" cy="237744"/>
          </a:xfrm>
          <a:prstGeom prst="rect">
            <a:avLst/>
          </a:prstGeom>
        </p:spPr>
      </p:pic>
      <p:sp>
        <p:nvSpPr>
          <p:cNvPr id="32" name="requirement title 3"/>
          <p:cNvSpPr txBox="1"/>
          <p:nvPr/>
        </p:nvSpPr>
        <p:spPr>
          <a:xfrm>
            <a:off x="5742432" y="3520440"/>
            <a:ext cx="2240280" cy="292608"/>
          </a:xfrm>
          <a:prstGeom prst="rect">
            <a:avLst/>
          </a:prstGeom>
          <a:noFill/>
          <a:ln/>
        </p:spPr>
        <p:txBody>
          <a:bodyPr wrap="square" lIns="0" tIns="0" rIns="0" bIns="0" rtlCol="0" anchor="ctr"/>
          <a:lstStyle/>
          <a:p>
            <a:pPr indent="0" marL="0">
              <a:buNone/>
            </a:pPr>
            <a:r>
              <a:rPr lang="en-US" sz="1600" b="1" dirty="0">
                <a:solidFill>
                  <a:schemeClr val="tx2"/>
                </a:solidFill>
              </a:rPr>
              <a:t>Work with any database</a:t>
            </a:r>
            <a:endParaRPr lang="en-US" sz="1600" dirty="0"/>
          </a:p>
        </p:txBody>
      </p:sp>
      <p:sp>
        <p:nvSpPr>
          <p:cNvPr id="33" name="requirement text 3"/>
          <p:cNvSpPr txBox="1"/>
          <p:nvPr/>
        </p:nvSpPr>
        <p:spPr>
          <a:xfrm>
            <a:off x="5742432" y="3840480"/>
            <a:ext cx="2240280" cy="594360"/>
          </a:xfrm>
          <a:prstGeom prst="rect">
            <a:avLst/>
          </a:prstGeom>
          <a:noFill/>
          <a:ln/>
        </p:spPr>
        <p:txBody>
          <a:bodyPr wrap="square" lIns="0" tIns="0" rIns="0" bIns="0" rtlCol="0" anchor="t"/>
          <a:lstStyle/>
          <a:p>
            <a:pPr indent="0" marL="0">
              <a:buNone/>
            </a:pPr>
            <a:r>
              <a:rPr lang="en-US" sz="1400" dirty="0">
                <a:solidFill>
                  <a:schemeClr val="tx1">
                    <a:alpha val="75000"/>
                  </a:schemeClr>
                </a:solidFill>
              </a:rPr>
              <a:t>PostgreSQL, MySQL, SQLite, SQL Server, Oracle</a:t>
            </a:r>
            <a:endParaRPr lang="en-US" sz="1400" dirty="0"/>
          </a:p>
        </p:txBody>
      </p:sp>
      <p:sp>
        <p:nvSpPr>
          <p:cNvPr id="34" name="requirement card 4"/>
          <p:cNvSpPr/>
          <p:nvPr/>
        </p:nvSpPr>
        <p:spPr>
          <a:xfrm>
            <a:off x="8366760" y="3337560"/>
            <a:ext cx="3200400" cy="1234440"/>
          </a:xfrm>
          <a:prstGeom prst="roundRect">
            <a:avLst>
              <a:gd name="adj" fmla="val 8889"/>
            </a:avLst>
          </a:prstGeom>
          <a:solidFill>
            <a:schemeClr val="bg2"/>
          </a:solidFill>
          <a:ln w="12700">
            <a:solidFill>
              <a:schemeClr val="bg2"/>
            </a:solidFill>
            <a:prstDash val="solid"/>
          </a:ln>
        </p:spPr>
      </p:sp>
      <p:sp>
        <p:nvSpPr>
          <p:cNvPr id="35" name="requirement 4 circle"/>
          <p:cNvSpPr/>
          <p:nvPr/>
        </p:nvSpPr>
        <p:spPr>
          <a:xfrm>
            <a:off x="8567928" y="3538728"/>
            <a:ext cx="457200" cy="457200"/>
          </a:xfrm>
          <a:prstGeom prst="ellipse">
            <a:avLst/>
          </a:prstGeom>
          <a:solidFill>
            <a:schemeClr val="accent1"/>
          </a:solidFill>
          <a:ln w="12700">
            <a:solidFill>
              <a:schemeClr val="accent1"/>
            </a:solidFill>
            <a:prstDash val="solid"/>
          </a:ln>
        </p:spPr>
      </p:sp>
      <p:pic>
        <p:nvPicPr>
          <p:cNvPr id="36" name="requirement 4 icon" descr="preencoded.png">    </p:cNvPr>
          <p:cNvPicPr>
            <a:picLocks noChangeAspect="1"/>
          </p:cNvPicPr>
          <p:nvPr/>
        </p:nvPicPr>
        <p:blipFill>
          <a:blip r:embed="rId7"/>
          <a:stretch>
            <a:fillRect/>
          </a:stretch>
        </p:blipFill>
        <p:spPr>
          <a:xfrm>
            <a:off x="8677656" y="3648456"/>
            <a:ext cx="237744" cy="237744"/>
          </a:xfrm>
          <a:prstGeom prst="rect">
            <a:avLst/>
          </a:prstGeom>
        </p:spPr>
      </p:pic>
      <p:sp>
        <p:nvSpPr>
          <p:cNvPr id="37" name="requirement title 4"/>
          <p:cNvSpPr txBox="1"/>
          <p:nvPr/>
        </p:nvSpPr>
        <p:spPr>
          <a:xfrm>
            <a:off x="9171432" y="3520440"/>
            <a:ext cx="2240280" cy="292608"/>
          </a:xfrm>
          <a:prstGeom prst="rect">
            <a:avLst/>
          </a:prstGeom>
          <a:noFill/>
          <a:ln/>
        </p:spPr>
        <p:txBody>
          <a:bodyPr wrap="square" lIns="0" tIns="0" rIns="0" bIns="0" rtlCol="0" anchor="ctr"/>
          <a:lstStyle/>
          <a:p>
            <a:pPr indent="0" marL="0">
              <a:buNone/>
            </a:pPr>
            <a:r>
              <a:rPr lang="en-US" sz="1600" b="1" dirty="0">
                <a:solidFill>
                  <a:schemeClr val="tx2"/>
                </a:solidFill>
              </a:rPr>
              <a:t>Clear answers</a:t>
            </a:r>
            <a:endParaRPr lang="en-US" sz="1600" dirty="0"/>
          </a:p>
        </p:txBody>
      </p:sp>
      <p:sp>
        <p:nvSpPr>
          <p:cNvPr id="38" name="requirement text 4"/>
          <p:cNvSpPr txBox="1"/>
          <p:nvPr/>
        </p:nvSpPr>
        <p:spPr>
          <a:xfrm>
            <a:off x="9171432" y="3840480"/>
            <a:ext cx="2240280" cy="594360"/>
          </a:xfrm>
          <a:prstGeom prst="rect">
            <a:avLst/>
          </a:prstGeom>
          <a:noFill/>
          <a:ln/>
        </p:spPr>
        <p:txBody>
          <a:bodyPr wrap="square" lIns="0" tIns="0" rIns="0" bIns="0" rtlCol="0" anchor="t"/>
          <a:lstStyle/>
          <a:p>
            <a:pPr indent="0" marL="0">
              <a:buNone/>
            </a:pPr>
            <a:r>
              <a:rPr lang="en-US" sz="1400" dirty="0">
                <a:solidFill>
                  <a:schemeClr val="tx1">
                    <a:alpha val="75000"/>
                  </a:schemeClr>
                </a:solidFill>
              </a:rPr>
              <a:t>Result table, automatic chart, short summary</a:t>
            </a:r>
            <a:endParaRPr lang="en-US" sz="1400" dirty="0"/>
          </a:p>
        </p:txBody>
      </p:sp>
      <p:sp>
        <p:nvSpPr>
          <p:cNvPr id="39" name="requirement card 5"/>
          <p:cNvSpPr/>
          <p:nvPr/>
        </p:nvSpPr>
        <p:spPr>
          <a:xfrm>
            <a:off x="4937760" y="4800600"/>
            <a:ext cx="3200400" cy="1234440"/>
          </a:xfrm>
          <a:prstGeom prst="roundRect">
            <a:avLst>
              <a:gd name="adj" fmla="val 8889"/>
            </a:avLst>
          </a:prstGeom>
          <a:solidFill>
            <a:schemeClr val="bg2"/>
          </a:solidFill>
          <a:ln w="12700">
            <a:solidFill>
              <a:schemeClr val="bg2"/>
            </a:solidFill>
            <a:prstDash val="solid"/>
          </a:ln>
        </p:spPr>
      </p:sp>
      <p:sp>
        <p:nvSpPr>
          <p:cNvPr id="40" name="requirement 5 circle"/>
          <p:cNvSpPr/>
          <p:nvPr/>
        </p:nvSpPr>
        <p:spPr>
          <a:xfrm>
            <a:off x="5138928" y="5001768"/>
            <a:ext cx="457200" cy="457200"/>
          </a:xfrm>
          <a:prstGeom prst="ellipse">
            <a:avLst/>
          </a:prstGeom>
          <a:solidFill>
            <a:schemeClr val="accent1"/>
          </a:solidFill>
          <a:ln w="12700">
            <a:solidFill>
              <a:schemeClr val="accent1"/>
            </a:solidFill>
            <a:prstDash val="solid"/>
          </a:ln>
        </p:spPr>
      </p:sp>
      <p:pic>
        <p:nvPicPr>
          <p:cNvPr id="41" name="requirement 5 icon" descr="preencoded.png">    </p:cNvPr>
          <p:cNvPicPr>
            <a:picLocks noChangeAspect="1"/>
          </p:cNvPicPr>
          <p:nvPr/>
        </p:nvPicPr>
        <p:blipFill>
          <a:blip r:embed="rId8"/>
          <a:stretch>
            <a:fillRect/>
          </a:stretch>
        </p:blipFill>
        <p:spPr>
          <a:xfrm>
            <a:off x="5248656" y="5111496"/>
            <a:ext cx="237744" cy="237744"/>
          </a:xfrm>
          <a:prstGeom prst="rect">
            <a:avLst/>
          </a:prstGeom>
        </p:spPr>
      </p:pic>
      <p:sp>
        <p:nvSpPr>
          <p:cNvPr id="42" name="requirement title 5"/>
          <p:cNvSpPr txBox="1"/>
          <p:nvPr/>
        </p:nvSpPr>
        <p:spPr>
          <a:xfrm>
            <a:off x="5742432" y="4983480"/>
            <a:ext cx="2240280" cy="292608"/>
          </a:xfrm>
          <a:prstGeom prst="rect">
            <a:avLst/>
          </a:prstGeom>
          <a:noFill/>
          <a:ln/>
        </p:spPr>
        <p:txBody>
          <a:bodyPr wrap="square" lIns="0" tIns="0" rIns="0" bIns="0" rtlCol="0" anchor="ctr"/>
          <a:lstStyle/>
          <a:p>
            <a:pPr indent="0" marL="0">
              <a:buNone/>
            </a:pPr>
            <a:r>
              <a:rPr lang="en-US" sz="1600" b="1" dirty="0">
                <a:solidFill>
                  <a:schemeClr val="tx2"/>
                </a:solidFill>
              </a:rPr>
              <a:t>Roles and audit trail</a:t>
            </a:r>
            <a:endParaRPr lang="en-US" sz="1600" dirty="0"/>
          </a:p>
        </p:txBody>
      </p:sp>
      <p:sp>
        <p:nvSpPr>
          <p:cNvPr id="43" name="requirement text 5"/>
          <p:cNvSpPr txBox="1"/>
          <p:nvPr/>
        </p:nvSpPr>
        <p:spPr>
          <a:xfrm>
            <a:off x="5742432" y="5303520"/>
            <a:ext cx="2240280" cy="594360"/>
          </a:xfrm>
          <a:prstGeom prst="rect">
            <a:avLst/>
          </a:prstGeom>
          <a:noFill/>
          <a:ln/>
        </p:spPr>
        <p:txBody>
          <a:bodyPr wrap="square" lIns="0" tIns="0" rIns="0" bIns="0" rtlCol="0" anchor="t"/>
          <a:lstStyle/>
          <a:p>
            <a:pPr indent="0" marL="0">
              <a:buNone/>
            </a:pPr>
            <a:r>
              <a:rPr lang="en-US" sz="1400" dirty="0">
                <a:solidFill>
                  <a:schemeClr val="tx1">
                    <a:alpha val="75000"/>
                  </a:schemeClr>
                </a:solidFill>
              </a:rPr>
              <a:t>Users, admins and a log of every query</a:t>
            </a:r>
            <a:endParaRPr lang="en-US" sz="1400" dirty="0"/>
          </a:p>
        </p:txBody>
      </p:sp>
      <p:sp>
        <p:nvSpPr>
          <p:cNvPr id="44" name="requirement card 6"/>
          <p:cNvSpPr/>
          <p:nvPr/>
        </p:nvSpPr>
        <p:spPr>
          <a:xfrm>
            <a:off x="8366760" y="4800600"/>
            <a:ext cx="3200400" cy="1234440"/>
          </a:xfrm>
          <a:prstGeom prst="roundRect">
            <a:avLst>
              <a:gd name="adj" fmla="val 8889"/>
            </a:avLst>
          </a:prstGeom>
          <a:solidFill>
            <a:schemeClr val="bg2"/>
          </a:solidFill>
          <a:ln w="12700">
            <a:solidFill>
              <a:schemeClr val="bg2"/>
            </a:solidFill>
            <a:prstDash val="solid"/>
          </a:ln>
        </p:spPr>
      </p:sp>
      <p:sp>
        <p:nvSpPr>
          <p:cNvPr id="45" name="requirement 6 circle"/>
          <p:cNvSpPr/>
          <p:nvPr/>
        </p:nvSpPr>
        <p:spPr>
          <a:xfrm>
            <a:off x="8567928" y="5001768"/>
            <a:ext cx="457200" cy="457200"/>
          </a:xfrm>
          <a:prstGeom prst="ellipse">
            <a:avLst/>
          </a:prstGeom>
          <a:solidFill>
            <a:schemeClr val="accent1"/>
          </a:solidFill>
          <a:ln w="12700">
            <a:solidFill>
              <a:schemeClr val="accent1"/>
            </a:solidFill>
            <a:prstDash val="solid"/>
          </a:ln>
        </p:spPr>
      </p:sp>
      <p:pic>
        <p:nvPicPr>
          <p:cNvPr id="46" name="requirement 6 icon" descr="preencoded.png">    </p:cNvPr>
          <p:cNvPicPr>
            <a:picLocks noChangeAspect="1"/>
          </p:cNvPicPr>
          <p:nvPr/>
        </p:nvPicPr>
        <p:blipFill>
          <a:blip r:embed="rId9"/>
          <a:stretch>
            <a:fillRect/>
          </a:stretch>
        </p:blipFill>
        <p:spPr>
          <a:xfrm>
            <a:off x="8677656" y="5111496"/>
            <a:ext cx="237744" cy="237744"/>
          </a:xfrm>
          <a:prstGeom prst="rect">
            <a:avLst/>
          </a:prstGeom>
        </p:spPr>
      </p:pic>
      <p:sp>
        <p:nvSpPr>
          <p:cNvPr id="47" name="requirement title 6"/>
          <p:cNvSpPr txBox="1"/>
          <p:nvPr/>
        </p:nvSpPr>
        <p:spPr>
          <a:xfrm>
            <a:off x="9171432" y="4983480"/>
            <a:ext cx="2240280" cy="292608"/>
          </a:xfrm>
          <a:prstGeom prst="rect">
            <a:avLst/>
          </a:prstGeom>
          <a:noFill/>
          <a:ln/>
        </p:spPr>
        <p:txBody>
          <a:bodyPr wrap="square" lIns="0" tIns="0" rIns="0" bIns="0" rtlCol="0" anchor="ctr"/>
          <a:lstStyle/>
          <a:p>
            <a:pPr indent="0" marL="0">
              <a:buNone/>
            </a:pPr>
            <a:r>
              <a:rPr lang="en-US" sz="1600" b="1" dirty="0">
                <a:solidFill>
                  <a:schemeClr val="tx2"/>
                </a:solidFill>
              </a:rPr>
              <a:t>Files too</a:t>
            </a:r>
            <a:endParaRPr lang="en-US" sz="1600" dirty="0"/>
          </a:p>
        </p:txBody>
      </p:sp>
      <p:sp>
        <p:nvSpPr>
          <p:cNvPr id="48" name="requirement text 6"/>
          <p:cNvSpPr txBox="1"/>
          <p:nvPr/>
        </p:nvSpPr>
        <p:spPr>
          <a:xfrm>
            <a:off x="9171432" y="5303520"/>
            <a:ext cx="2240280" cy="594360"/>
          </a:xfrm>
          <a:prstGeom prst="rect">
            <a:avLst/>
          </a:prstGeom>
          <a:noFill/>
          <a:ln/>
        </p:spPr>
        <p:txBody>
          <a:bodyPr wrap="square" lIns="0" tIns="0" rIns="0" bIns="0" rtlCol="0" anchor="t"/>
          <a:lstStyle/>
          <a:p>
            <a:pPr indent="0" marL="0">
              <a:buNone/>
            </a:pPr>
            <a:r>
              <a:rPr lang="en-US" sz="1400" dirty="0">
                <a:solidFill>
                  <a:schemeClr val="tx1">
                    <a:alpha val="75000"/>
                  </a:schemeClr>
                </a:solidFill>
              </a:rPr>
              <a:t>Upload a CSV or Excel file and ask about it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One backend sits between browser, AI and data</a:t>
            </a:r>
            <a:endParaRPr lang="en-US" sz="3600" dirty="0"/>
          </a:p>
        </p:txBody>
      </p:sp>
      <p:sp>
        <p:nvSpPr>
          <p:cNvPr id="3" name="browser box"/>
          <p:cNvSpPr/>
          <p:nvPr/>
        </p:nvSpPr>
        <p:spPr>
          <a:xfrm>
            <a:off x="3813048" y="1325880"/>
            <a:ext cx="4572000" cy="822960"/>
          </a:xfrm>
          <a:prstGeom prst="roundRect">
            <a:avLst>
              <a:gd name="adj" fmla="val 11111"/>
            </a:avLst>
          </a:prstGeom>
          <a:solidFill>
            <a:schemeClr val="bg2"/>
          </a:solidFill>
          <a:ln w="12700">
            <a:solidFill>
              <a:schemeClr val="accent1"/>
            </a:solidFill>
            <a:prstDash val="solid"/>
          </a:ln>
        </p:spPr>
      </p:sp>
      <p:sp>
        <p:nvSpPr>
          <p:cNvPr id="4" name="browser text"/>
          <p:cNvSpPr txBox="1"/>
          <p:nvPr/>
        </p:nvSpPr>
        <p:spPr>
          <a:xfrm>
            <a:off x="3904488" y="1325880"/>
            <a:ext cx="4389120" cy="822960"/>
          </a:xfrm>
          <a:prstGeom prst="rect">
            <a:avLst/>
          </a:prstGeom>
          <a:noFill/>
          <a:ln/>
        </p:spPr>
        <p:txBody>
          <a:bodyPr wrap="square" lIns="0" tIns="0" rIns="0" bIns="0" rtlCol="0" anchor="ctr"/>
          <a:lstStyle/>
          <a:p>
            <a:pPr algn="ctr" indent="0" marL="0">
              <a:buNone/>
            </a:pPr>
            <a:r>
              <a:rPr lang="en-US" sz="1600" b="1" dirty="0">
                <a:solidFill>
                  <a:schemeClr val="tx2"/>
                </a:solidFill>
              </a:rPr>
              <a:t>Browser — Next.js 14 app</a:t>
            </a:r>
            <a:endParaRPr lang="en-US" sz="1600" dirty="0"/>
          </a:p>
          <a:p>
            <a:pPr algn="ctr" indent="0" marL="0">
              <a:buNone/>
            </a:pPr>
            <a:r>
              <a:rPr lang="en-US" sz="1200" dirty="0">
                <a:solidFill>
                  <a:schemeClr val="tx1">
                    <a:alpha val="75000"/>
                  </a:schemeClr>
                </a:solidFill>
              </a:rPr>
              <a:t>Chat · SQL console · schema diagram · admin panel</a:t>
            </a:r>
            <a:endParaRPr lang="en-US" sz="1600" dirty="0"/>
          </a:p>
        </p:txBody>
      </p:sp>
      <p:sp>
        <p:nvSpPr>
          <p:cNvPr id="5" name="browser link"/>
          <p:cNvSpPr/>
          <p:nvPr/>
        </p:nvSpPr>
        <p:spPr>
          <a:xfrm>
            <a:off x="6099048" y="2148840"/>
            <a:ext cx="0" cy="384048"/>
          </a:xfrm>
          <a:prstGeom prst="line">
            <a:avLst/>
          </a:prstGeom>
          <a:noFill/>
          <a:ln w="19050">
            <a:solidFill>
              <a:schemeClr val="accent2"/>
            </a:solidFill>
            <a:prstDash val="solid"/>
            <a:headEnd type="triangle"/>
            <a:tailEnd type="triangle"/>
          </a:ln>
        </p:spPr>
      </p:sp>
      <p:sp>
        <p:nvSpPr>
          <p:cNvPr id="6" name="browser link label"/>
          <p:cNvSpPr txBox="1"/>
          <p:nvPr/>
        </p:nvSpPr>
        <p:spPr>
          <a:xfrm>
            <a:off x="6236208" y="2194560"/>
            <a:ext cx="3200400" cy="274320"/>
          </a:xfrm>
          <a:prstGeom prst="rect">
            <a:avLst/>
          </a:prstGeom>
          <a:noFill/>
          <a:ln/>
        </p:spPr>
        <p:txBody>
          <a:bodyPr wrap="square" lIns="0" tIns="0" rIns="0" bIns="0" rtlCol="0" anchor="ctr"/>
          <a:lstStyle/>
          <a:p>
            <a:pPr indent="0" marL="0">
              <a:buNone/>
            </a:pPr>
            <a:r>
              <a:rPr lang="en-US" sz="1200" dirty="0">
                <a:solidFill>
                  <a:schemeClr val="tx1">
                    <a:alpha val="75000"/>
                  </a:schemeClr>
                </a:solidFill>
              </a:rPr>
              <a:t>REST + Server-Sent Events · JWT</a:t>
            </a:r>
            <a:endParaRPr lang="en-US" sz="1200" dirty="0"/>
          </a:p>
        </p:txBody>
      </p:sp>
      <p:sp>
        <p:nvSpPr>
          <p:cNvPr id="7" name="backend container"/>
          <p:cNvSpPr/>
          <p:nvPr/>
        </p:nvSpPr>
        <p:spPr>
          <a:xfrm>
            <a:off x="548640" y="2532888"/>
            <a:ext cx="11091672" cy="1627632"/>
          </a:xfrm>
          <a:prstGeom prst="roundRect">
            <a:avLst>
              <a:gd name="adj" fmla="val 6742"/>
            </a:avLst>
          </a:prstGeom>
          <a:solidFill>
            <a:schemeClr val="accent1">
              <a:alpha val="10000"/>
            </a:schemeClr>
          </a:solidFill>
          <a:ln w="12700">
            <a:solidFill>
              <a:schemeClr val="accent1"/>
            </a:solidFill>
            <a:prstDash val="solid"/>
          </a:ln>
        </p:spPr>
      </p:sp>
      <p:sp>
        <p:nvSpPr>
          <p:cNvPr id="8" name="backend label"/>
          <p:cNvSpPr txBox="1"/>
          <p:nvPr/>
        </p:nvSpPr>
        <p:spPr>
          <a:xfrm>
            <a:off x="749808" y="2596896"/>
            <a:ext cx="3657600" cy="310896"/>
          </a:xfrm>
          <a:prstGeom prst="rect">
            <a:avLst/>
          </a:prstGeom>
          <a:noFill/>
          <a:ln/>
        </p:spPr>
        <p:txBody>
          <a:bodyPr wrap="square" lIns="0" tIns="0" rIns="0" bIns="0" rtlCol="0" anchor="ctr"/>
          <a:lstStyle/>
          <a:p>
            <a:pPr indent="0" marL="0">
              <a:buNone/>
            </a:pPr>
            <a:r>
              <a:rPr lang="en-US" sz="1600" b="1" dirty="0">
                <a:solidFill>
                  <a:schemeClr val="accent2"/>
                </a:solidFill>
              </a:rPr>
              <a:t>FastAPI backend</a:t>
            </a:r>
            <a:endParaRPr lang="en-US" sz="1600" dirty="0"/>
          </a:p>
        </p:txBody>
      </p:sp>
      <p:sp>
        <p:nvSpPr>
          <p:cNvPr id="9" name="module 1 box"/>
          <p:cNvSpPr/>
          <p:nvPr/>
        </p:nvSpPr>
        <p:spPr>
          <a:xfrm>
            <a:off x="749808" y="2971800"/>
            <a:ext cx="2510028" cy="987552"/>
          </a:xfrm>
          <a:prstGeom prst="roundRect">
            <a:avLst>
              <a:gd name="adj" fmla="val 9259"/>
            </a:avLst>
          </a:prstGeom>
          <a:solidFill>
            <a:schemeClr val="bg1"/>
          </a:solidFill>
          <a:ln w="12700">
            <a:solidFill>
              <a:schemeClr val="accent5"/>
            </a:solidFill>
            <a:prstDash val="solid"/>
          </a:ln>
        </p:spPr>
      </p:sp>
      <p:sp>
        <p:nvSpPr>
          <p:cNvPr id="10" name="module 1 text"/>
          <p:cNvSpPr txBox="1"/>
          <p:nvPr/>
        </p:nvSpPr>
        <p:spPr>
          <a:xfrm>
            <a:off x="841248" y="2971800"/>
            <a:ext cx="2327148" cy="987552"/>
          </a:xfrm>
          <a:prstGeom prst="rect">
            <a:avLst/>
          </a:prstGeom>
          <a:noFill/>
          <a:ln/>
        </p:spPr>
        <p:txBody>
          <a:bodyPr wrap="square" lIns="0" tIns="0" rIns="0" bIns="0" rtlCol="0" anchor="ctr"/>
          <a:lstStyle/>
          <a:p>
            <a:pPr algn="ctr" indent="0" marL="0">
              <a:buNone/>
            </a:pPr>
            <a:r>
              <a:rPr lang="en-US" sz="1600" b="1" dirty="0">
                <a:solidFill>
                  <a:schemeClr val="tx2"/>
                </a:solidFill>
              </a:rPr>
              <a:t>Auth and roles</a:t>
            </a:r>
            <a:endParaRPr lang="en-US" sz="1600" dirty="0"/>
          </a:p>
          <a:p>
            <a:pPr algn="ctr" indent="0" marL="0">
              <a:buNone/>
            </a:pPr>
            <a:r>
              <a:rPr lang="en-US" sz="1200" dirty="0">
                <a:solidFill>
                  <a:schemeClr val="tx1">
                    <a:alpha val="75000"/>
                  </a:schemeClr>
                </a:solidFill>
              </a:rPr>
              <a:t>JWT · bcrypt · email codes</a:t>
            </a:r>
            <a:endParaRPr lang="en-US" sz="1600" dirty="0"/>
          </a:p>
        </p:txBody>
      </p:sp>
      <p:sp>
        <p:nvSpPr>
          <p:cNvPr id="11" name="module 2 box"/>
          <p:cNvSpPr/>
          <p:nvPr/>
        </p:nvSpPr>
        <p:spPr>
          <a:xfrm>
            <a:off x="3488436" y="2971800"/>
            <a:ext cx="2510028" cy="987552"/>
          </a:xfrm>
          <a:prstGeom prst="roundRect">
            <a:avLst>
              <a:gd name="adj" fmla="val 9259"/>
            </a:avLst>
          </a:prstGeom>
          <a:solidFill>
            <a:schemeClr val="bg1"/>
          </a:solidFill>
          <a:ln w="12700">
            <a:solidFill>
              <a:schemeClr val="accent5"/>
            </a:solidFill>
            <a:prstDash val="solid"/>
          </a:ln>
        </p:spPr>
      </p:sp>
      <p:sp>
        <p:nvSpPr>
          <p:cNvPr id="12" name="module 2 text"/>
          <p:cNvSpPr txBox="1"/>
          <p:nvPr/>
        </p:nvSpPr>
        <p:spPr>
          <a:xfrm>
            <a:off x="3579876" y="2971800"/>
            <a:ext cx="2327148" cy="987552"/>
          </a:xfrm>
          <a:prstGeom prst="rect">
            <a:avLst/>
          </a:prstGeom>
          <a:noFill/>
          <a:ln/>
        </p:spPr>
        <p:txBody>
          <a:bodyPr wrap="square" lIns="0" tIns="0" rIns="0" bIns="0" rtlCol="0" anchor="ctr"/>
          <a:lstStyle/>
          <a:p>
            <a:pPr algn="ctr" indent="0" marL="0">
              <a:buNone/>
            </a:pPr>
            <a:r>
              <a:rPr lang="en-US" sz="1600" b="1" dirty="0">
                <a:solidFill>
                  <a:schemeClr val="tx2"/>
                </a:solidFill>
              </a:rPr>
              <a:t>Query pipeline</a:t>
            </a:r>
            <a:endParaRPr lang="en-US" sz="1600" dirty="0"/>
          </a:p>
          <a:p>
            <a:pPr algn="ctr" indent="0" marL="0">
              <a:buNone/>
            </a:pPr>
            <a:r>
              <a:rPr lang="en-US" sz="1200" dirty="0">
                <a:solidFill>
                  <a:schemeClr val="tx1">
                    <a:alpha val="75000"/>
                  </a:schemeClr>
                </a:solidFill>
              </a:rPr>
              <a:t>prompt → SQL → stream</a:t>
            </a:r>
            <a:endParaRPr lang="en-US" sz="1600" dirty="0"/>
          </a:p>
        </p:txBody>
      </p:sp>
      <p:sp>
        <p:nvSpPr>
          <p:cNvPr id="13" name="module 3 box"/>
          <p:cNvSpPr/>
          <p:nvPr/>
        </p:nvSpPr>
        <p:spPr>
          <a:xfrm>
            <a:off x="6227064" y="2971800"/>
            <a:ext cx="2510028" cy="987552"/>
          </a:xfrm>
          <a:prstGeom prst="roundRect">
            <a:avLst>
              <a:gd name="adj" fmla="val 9259"/>
            </a:avLst>
          </a:prstGeom>
          <a:solidFill>
            <a:schemeClr val="bg1"/>
          </a:solidFill>
          <a:ln w="25400">
            <a:solidFill>
              <a:schemeClr val="accent3"/>
            </a:solidFill>
            <a:prstDash val="solid"/>
          </a:ln>
        </p:spPr>
      </p:sp>
      <p:sp>
        <p:nvSpPr>
          <p:cNvPr id="14" name="module 3 text"/>
          <p:cNvSpPr txBox="1"/>
          <p:nvPr/>
        </p:nvSpPr>
        <p:spPr>
          <a:xfrm>
            <a:off x="6318504" y="2971800"/>
            <a:ext cx="2327148" cy="987552"/>
          </a:xfrm>
          <a:prstGeom prst="rect">
            <a:avLst/>
          </a:prstGeom>
          <a:noFill/>
          <a:ln/>
        </p:spPr>
        <p:txBody>
          <a:bodyPr wrap="square" lIns="0" tIns="0" rIns="0" bIns="0" rtlCol="0" anchor="ctr"/>
          <a:lstStyle/>
          <a:p>
            <a:pPr algn="ctr" indent="0" marL="0">
              <a:buNone/>
            </a:pPr>
            <a:r>
              <a:rPr lang="en-US" sz="1600" b="1" dirty="0">
                <a:solidFill>
                  <a:schemeClr val="tx2"/>
                </a:solidFill>
              </a:rPr>
              <a:t>SQL safety</a:t>
            </a:r>
            <a:endParaRPr lang="en-US" sz="1600" dirty="0"/>
          </a:p>
          <a:p>
            <a:pPr algn="ctr" indent="0" marL="0">
              <a:buNone/>
            </a:pPr>
            <a:r>
              <a:rPr lang="en-US" sz="1200" dirty="0">
                <a:solidFill>
                  <a:schemeClr val="tx1">
                    <a:alpha val="75000"/>
                  </a:schemeClr>
                </a:solidFill>
              </a:rPr>
              <a:t>11-check validator</a:t>
            </a:r>
            <a:endParaRPr lang="en-US" sz="1600" dirty="0"/>
          </a:p>
        </p:txBody>
      </p:sp>
      <p:sp>
        <p:nvSpPr>
          <p:cNvPr id="15" name="module 4 box"/>
          <p:cNvSpPr/>
          <p:nvPr/>
        </p:nvSpPr>
        <p:spPr>
          <a:xfrm>
            <a:off x="8965692" y="2971800"/>
            <a:ext cx="2510028" cy="987552"/>
          </a:xfrm>
          <a:prstGeom prst="roundRect">
            <a:avLst>
              <a:gd name="adj" fmla="val 9259"/>
            </a:avLst>
          </a:prstGeom>
          <a:solidFill>
            <a:schemeClr val="bg1"/>
          </a:solidFill>
          <a:ln w="12700">
            <a:solidFill>
              <a:schemeClr val="accent5"/>
            </a:solidFill>
            <a:prstDash val="solid"/>
          </a:ln>
        </p:spPr>
      </p:sp>
      <p:sp>
        <p:nvSpPr>
          <p:cNvPr id="16" name="module 4 text"/>
          <p:cNvSpPr txBox="1"/>
          <p:nvPr/>
        </p:nvSpPr>
        <p:spPr>
          <a:xfrm>
            <a:off x="9057132" y="2971800"/>
            <a:ext cx="2327148" cy="987552"/>
          </a:xfrm>
          <a:prstGeom prst="rect">
            <a:avLst/>
          </a:prstGeom>
          <a:noFill/>
          <a:ln/>
        </p:spPr>
        <p:txBody>
          <a:bodyPr wrap="square" lIns="0" tIns="0" rIns="0" bIns="0" rtlCol="0" anchor="ctr"/>
          <a:lstStyle/>
          <a:p>
            <a:pPr algn="ctr" indent="0" marL="0">
              <a:buNone/>
            </a:pPr>
            <a:r>
              <a:rPr lang="en-US" sz="1600" b="1" dirty="0">
                <a:solidFill>
                  <a:schemeClr val="tx2"/>
                </a:solidFill>
              </a:rPr>
              <a:t>Memory and files</a:t>
            </a:r>
            <a:endParaRPr lang="en-US" sz="1600" dirty="0"/>
          </a:p>
          <a:p>
            <a:pPr algn="ctr" indent="0" marL="0">
              <a:buNone/>
            </a:pPr>
            <a:r>
              <a:rPr lang="en-US" sz="1200" dirty="0">
                <a:solidFill>
                  <a:schemeClr val="tx1">
                    <a:alpha val="75000"/>
                  </a:schemeClr>
                </a:solidFill>
              </a:rPr>
              <a:t>FAISS · in-memory SQLite</a:t>
            </a:r>
            <a:endParaRPr lang="en-US" sz="1600" dirty="0"/>
          </a:p>
        </p:txBody>
      </p:sp>
      <p:sp>
        <p:nvSpPr>
          <p:cNvPr id="17" name="store link 1"/>
          <p:cNvSpPr/>
          <p:nvPr/>
        </p:nvSpPr>
        <p:spPr>
          <a:xfrm>
            <a:off x="1566367" y="4160520"/>
            <a:ext cx="0" cy="365760"/>
          </a:xfrm>
          <a:prstGeom prst="line">
            <a:avLst/>
          </a:prstGeom>
          <a:noFill/>
          <a:ln w="15875">
            <a:solidFill>
              <a:schemeClr val="accent2"/>
            </a:solidFill>
            <a:prstDash val="solid"/>
            <a:tailEnd type="triangle"/>
          </a:ln>
        </p:spPr>
      </p:sp>
      <p:sp>
        <p:nvSpPr>
          <p:cNvPr id="18" name="store 1 box"/>
          <p:cNvSpPr/>
          <p:nvPr/>
        </p:nvSpPr>
        <p:spPr>
          <a:xfrm>
            <a:off x="548640" y="4526280"/>
            <a:ext cx="2035454" cy="914400"/>
          </a:xfrm>
          <a:prstGeom prst="roundRect">
            <a:avLst>
              <a:gd name="adj" fmla="val 10000"/>
            </a:avLst>
          </a:prstGeom>
          <a:solidFill>
            <a:schemeClr val="bg2"/>
          </a:solidFill>
          <a:ln w="12700">
            <a:solidFill>
              <a:schemeClr val="bg2"/>
            </a:solidFill>
            <a:prstDash val="solid"/>
          </a:ln>
        </p:spPr>
      </p:sp>
      <p:sp>
        <p:nvSpPr>
          <p:cNvPr id="19" name="store 1 text"/>
          <p:cNvSpPr txBox="1"/>
          <p:nvPr/>
        </p:nvSpPr>
        <p:spPr>
          <a:xfrm>
            <a:off x="640080" y="4526280"/>
            <a:ext cx="1852574" cy="914400"/>
          </a:xfrm>
          <a:prstGeom prst="rect">
            <a:avLst/>
          </a:prstGeom>
          <a:noFill/>
          <a:ln/>
        </p:spPr>
        <p:txBody>
          <a:bodyPr wrap="square" lIns="0" tIns="0" rIns="0" bIns="0" rtlCol="0" anchor="ctr"/>
          <a:lstStyle/>
          <a:p>
            <a:pPr algn="ctr" indent="0" marL="0">
              <a:buNone/>
            </a:pPr>
            <a:r>
              <a:rPr lang="en-US" sz="1600" b="1" dirty="0">
                <a:solidFill>
                  <a:schemeClr val="tx2"/>
                </a:solidFill>
              </a:rPr>
              <a:t>Groq LLM</a:t>
            </a:r>
            <a:endParaRPr lang="en-US" sz="1600" dirty="0"/>
          </a:p>
          <a:p>
            <a:pPr algn="ctr" indent="0" marL="0">
              <a:buNone/>
            </a:pPr>
            <a:r>
              <a:rPr lang="en-US" sz="1200" dirty="0">
                <a:solidFill>
                  <a:schemeClr val="tx1">
                    <a:alpha val="75000"/>
                  </a:schemeClr>
                </a:solidFill>
              </a:rPr>
              <a:t>Llama 3.3 70B writes SQL</a:t>
            </a:r>
            <a:endParaRPr lang="en-US" sz="1600" dirty="0"/>
          </a:p>
        </p:txBody>
      </p:sp>
      <p:sp>
        <p:nvSpPr>
          <p:cNvPr id="20" name="store link 2"/>
          <p:cNvSpPr/>
          <p:nvPr/>
        </p:nvSpPr>
        <p:spPr>
          <a:xfrm>
            <a:off x="3830422" y="4160520"/>
            <a:ext cx="0" cy="365760"/>
          </a:xfrm>
          <a:prstGeom prst="line">
            <a:avLst/>
          </a:prstGeom>
          <a:noFill/>
          <a:ln w="15875">
            <a:solidFill>
              <a:schemeClr val="accent2"/>
            </a:solidFill>
            <a:prstDash val="solid"/>
            <a:tailEnd type="triangle"/>
          </a:ln>
        </p:spPr>
      </p:sp>
      <p:sp>
        <p:nvSpPr>
          <p:cNvPr id="21" name="store 2 box"/>
          <p:cNvSpPr/>
          <p:nvPr/>
        </p:nvSpPr>
        <p:spPr>
          <a:xfrm>
            <a:off x="2812694" y="4526280"/>
            <a:ext cx="2035454" cy="914400"/>
          </a:xfrm>
          <a:prstGeom prst="roundRect">
            <a:avLst>
              <a:gd name="adj" fmla="val 10000"/>
            </a:avLst>
          </a:prstGeom>
          <a:solidFill>
            <a:schemeClr val="bg2"/>
          </a:solidFill>
          <a:ln w="12700">
            <a:solidFill>
              <a:schemeClr val="bg2"/>
            </a:solidFill>
            <a:prstDash val="solid"/>
          </a:ln>
        </p:spPr>
      </p:sp>
      <p:sp>
        <p:nvSpPr>
          <p:cNvPr id="22" name="store 2 text"/>
          <p:cNvSpPr txBox="1"/>
          <p:nvPr/>
        </p:nvSpPr>
        <p:spPr>
          <a:xfrm>
            <a:off x="2904134" y="4526280"/>
            <a:ext cx="1852574" cy="914400"/>
          </a:xfrm>
          <a:prstGeom prst="rect">
            <a:avLst/>
          </a:prstGeom>
          <a:noFill/>
          <a:ln/>
        </p:spPr>
        <p:txBody>
          <a:bodyPr wrap="square" lIns="0" tIns="0" rIns="0" bIns="0" rtlCol="0" anchor="ctr"/>
          <a:lstStyle/>
          <a:p>
            <a:pPr algn="ctr" indent="0" marL="0">
              <a:buNone/>
            </a:pPr>
            <a:r>
              <a:rPr lang="en-US" sz="1600" b="1" dirty="0">
                <a:solidFill>
                  <a:schemeClr val="tx2"/>
                </a:solidFill>
              </a:rPr>
              <a:t>App database</a:t>
            </a:r>
            <a:endParaRPr lang="en-US" sz="1600" dirty="0"/>
          </a:p>
          <a:p>
            <a:pPr algn="ctr" indent="0" marL="0">
              <a:buNone/>
            </a:pPr>
            <a:r>
              <a:rPr lang="en-US" sz="1200" dirty="0">
                <a:solidFill>
                  <a:schemeClr val="tx1">
                    <a:alpha val="75000"/>
                  </a:schemeClr>
                </a:solidFill>
              </a:rPr>
              <a:t>users · history · audit</a:t>
            </a:r>
            <a:endParaRPr lang="en-US" sz="1600" dirty="0"/>
          </a:p>
        </p:txBody>
      </p:sp>
      <p:sp>
        <p:nvSpPr>
          <p:cNvPr id="23" name="store link 3"/>
          <p:cNvSpPr/>
          <p:nvPr/>
        </p:nvSpPr>
        <p:spPr>
          <a:xfrm>
            <a:off x="6094476" y="4160520"/>
            <a:ext cx="0" cy="365760"/>
          </a:xfrm>
          <a:prstGeom prst="line">
            <a:avLst/>
          </a:prstGeom>
          <a:noFill/>
          <a:ln w="15875">
            <a:solidFill>
              <a:schemeClr val="accent2"/>
            </a:solidFill>
            <a:prstDash val="solid"/>
            <a:tailEnd type="triangle"/>
          </a:ln>
        </p:spPr>
      </p:sp>
      <p:sp>
        <p:nvSpPr>
          <p:cNvPr id="24" name="store 3 box"/>
          <p:cNvSpPr/>
          <p:nvPr/>
        </p:nvSpPr>
        <p:spPr>
          <a:xfrm>
            <a:off x="5076749" y="4526280"/>
            <a:ext cx="2035454" cy="914400"/>
          </a:xfrm>
          <a:prstGeom prst="roundRect">
            <a:avLst>
              <a:gd name="adj" fmla="val 10000"/>
            </a:avLst>
          </a:prstGeom>
          <a:solidFill>
            <a:schemeClr val="bg2"/>
          </a:solidFill>
          <a:ln w="12700">
            <a:solidFill>
              <a:schemeClr val="bg2"/>
            </a:solidFill>
            <a:prstDash val="solid"/>
          </a:ln>
        </p:spPr>
      </p:sp>
      <p:sp>
        <p:nvSpPr>
          <p:cNvPr id="25" name="store 3 text"/>
          <p:cNvSpPr txBox="1"/>
          <p:nvPr/>
        </p:nvSpPr>
        <p:spPr>
          <a:xfrm>
            <a:off x="5168189" y="4526280"/>
            <a:ext cx="1852574" cy="914400"/>
          </a:xfrm>
          <a:prstGeom prst="rect">
            <a:avLst/>
          </a:prstGeom>
          <a:noFill/>
          <a:ln/>
        </p:spPr>
        <p:txBody>
          <a:bodyPr wrap="square" lIns="0" tIns="0" rIns="0" bIns="0" rtlCol="0" anchor="ctr"/>
          <a:lstStyle/>
          <a:p>
            <a:pPr algn="ctr" indent="0" marL="0">
              <a:buNone/>
            </a:pPr>
            <a:r>
              <a:rPr lang="en-US" sz="1600" b="1" dirty="0">
                <a:solidFill>
                  <a:schemeClr val="tx2"/>
                </a:solidFill>
              </a:rPr>
              <a:t>Default database</a:t>
            </a:r>
            <a:endParaRPr lang="en-US" sz="1600" dirty="0"/>
          </a:p>
          <a:p>
            <a:pPr algn="ctr" indent="0" marL="0">
              <a:buNone/>
            </a:pPr>
            <a:r>
              <a:rPr lang="en-US" sz="1200" dirty="0">
                <a:solidFill>
                  <a:schemeClr val="tx1">
                    <a:alpha val="75000"/>
                  </a:schemeClr>
                </a:solidFill>
              </a:rPr>
              <a:t>read-only queries</a:t>
            </a:r>
            <a:endParaRPr lang="en-US" sz="1600" dirty="0"/>
          </a:p>
        </p:txBody>
      </p:sp>
      <p:sp>
        <p:nvSpPr>
          <p:cNvPr id="26" name="store link 4"/>
          <p:cNvSpPr/>
          <p:nvPr/>
        </p:nvSpPr>
        <p:spPr>
          <a:xfrm>
            <a:off x="8358530" y="4160520"/>
            <a:ext cx="0" cy="365760"/>
          </a:xfrm>
          <a:prstGeom prst="line">
            <a:avLst/>
          </a:prstGeom>
          <a:noFill/>
          <a:ln w="15875">
            <a:solidFill>
              <a:schemeClr val="accent2"/>
            </a:solidFill>
            <a:prstDash val="solid"/>
            <a:tailEnd type="triangle"/>
          </a:ln>
        </p:spPr>
      </p:sp>
      <p:sp>
        <p:nvSpPr>
          <p:cNvPr id="27" name="store 4 box"/>
          <p:cNvSpPr/>
          <p:nvPr/>
        </p:nvSpPr>
        <p:spPr>
          <a:xfrm>
            <a:off x="7340803" y="4526280"/>
            <a:ext cx="2035454" cy="914400"/>
          </a:xfrm>
          <a:prstGeom prst="roundRect">
            <a:avLst>
              <a:gd name="adj" fmla="val 10000"/>
            </a:avLst>
          </a:prstGeom>
          <a:solidFill>
            <a:schemeClr val="bg2"/>
          </a:solidFill>
          <a:ln w="12700">
            <a:solidFill>
              <a:schemeClr val="bg2"/>
            </a:solidFill>
            <a:prstDash val="solid"/>
          </a:ln>
        </p:spPr>
      </p:sp>
      <p:sp>
        <p:nvSpPr>
          <p:cNvPr id="28" name="store 4 text"/>
          <p:cNvSpPr txBox="1"/>
          <p:nvPr/>
        </p:nvSpPr>
        <p:spPr>
          <a:xfrm>
            <a:off x="7432243" y="4526280"/>
            <a:ext cx="1852574" cy="914400"/>
          </a:xfrm>
          <a:prstGeom prst="rect">
            <a:avLst/>
          </a:prstGeom>
          <a:noFill/>
          <a:ln/>
        </p:spPr>
        <p:txBody>
          <a:bodyPr wrap="square" lIns="0" tIns="0" rIns="0" bIns="0" rtlCol="0" anchor="ctr"/>
          <a:lstStyle/>
          <a:p>
            <a:pPr algn="ctr" indent="0" marL="0">
              <a:buNone/>
            </a:pPr>
            <a:r>
              <a:rPr lang="en-US" sz="1600" b="1" dirty="0">
                <a:solidFill>
                  <a:schemeClr val="tx2"/>
                </a:solidFill>
              </a:rPr>
              <a:t>Data sources</a:t>
            </a:r>
            <a:endParaRPr lang="en-US" sz="1600" dirty="0"/>
          </a:p>
          <a:p>
            <a:pPr algn="ctr" indent="0" marL="0">
              <a:buNone/>
            </a:pPr>
            <a:r>
              <a:rPr lang="en-US" sz="1200" dirty="0">
                <a:solidFill>
                  <a:schemeClr val="tx1">
                    <a:alpha val="75000"/>
                  </a:schemeClr>
                </a:solidFill>
              </a:rPr>
              <a:t>added by admins</a:t>
            </a:r>
            <a:endParaRPr lang="en-US" sz="1600" dirty="0"/>
          </a:p>
        </p:txBody>
      </p:sp>
      <p:sp>
        <p:nvSpPr>
          <p:cNvPr id="29" name="store link 5"/>
          <p:cNvSpPr/>
          <p:nvPr/>
        </p:nvSpPr>
        <p:spPr>
          <a:xfrm>
            <a:off x="10622585" y="4160520"/>
            <a:ext cx="0" cy="365760"/>
          </a:xfrm>
          <a:prstGeom prst="line">
            <a:avLst/>
          </a:prstGeom>
          <a:noFill/>
          <a:ln w="15875">
            <a:solidFill>
              <a:schemeClr val="accent2"/>
            </a:solidFill>
            <a:prstDash val="solid"/>
            <a:tailEnd type="triangle"/>
          </a:ln>
        </p:spPr>
      </p:sp>
      <p:sp>
        <p:nvSpPr>
          <p:cNvPr id="30" name="store 5 box"/>
          <p:cNvSpPr/>
          <p:nvPr/>
        </p:nvSpPr>
        <p:spPr>
          <a:xfrm>
            <a:off x="9604858" y="4526280"/>
            <a:ext cx="2035454" cy="914400"/>
          </a:xfrm>
          <a:prstGeom prst="roundRect">
            <a:avLst>
              <a:gd name="adj" fmla="val 10000"/>
            </a:avLst>
          </a:prstGeom>
          <a:solidFill>
            <a:schemeClr val="bg2"/>
          </a:solidFill>
          <a:ln w="12700">
            <a:solidFill>
              <a:schemeClr val="bg2"/>
            </a:solidFill>
            <a:prstDash val="solid"/>
          </a:ln>
        </p:spPr>
      </p:sp>
      <p:sp>
        <p:nvSpPr>
          <p:cNvPr id="31" name="store 5 text"/>
          <p:cNvSpPr txBox="1"/>
          <p:nvPr/>
        </p:nvSpPr>
        <p:spPr>
          <a:xfrm>
            <a:off x="9696298" y="4526280"/>
            <a:ext cx="1852574" cy="914400"/>
          </a:xfrm>
          <a:prstGeom prst="rect">
            <a:avLst/>
          </a:prstGeom>
          <a:noFill/>
          <a:ln/>
        </p:spPr>
        <p:txBody>
          <a:bodyPr wrap="square" lIns="0" tIns="0" rIns="0" bIns="0" rtlCol="0" anchor="ctr"/>
          <a:lstStyle/>
          <a:p>
            <a:pPr algn="ctr" indent="0" marL="0">
              <a:buNone/>
            </a:pPr>
            <a:r>
              <a:rPr lang="en-US" sz="1600" b="1" dirty="0">
                <a:solidFill>
                  <a:schemeClr val="tx2"/>
                </a:solidFill>
              </a:rPr>
              <a:t>Redis</a:t>
            </a:r>
            <a:endParaRPr lang="en-US" sz="1600" dirty="0"/>
          </a:p>
          <a:p>
            <a:pPr algn="ctr" indent="0" marL="0">
              <a:buNone/>
            </a:pPr>
            <a:r>
              <a:rPr lang="en-US" sz="1200" dirty="0">
                <a:solidFill>
                  <a:schemeClr val="tx1">
                    <a:alpha val="75000"/>
                  </a:schemeClr>
                </a:solidFill>
              </a:rPr>
              <a:t>optional 5-min cache</a:t>
            </a:r>
            <a:endParaRPr lang="en-US" sz="1600" dirty="0"/>
          </a:p>
        </p:txBody>
      </p:sp>
      <p:sp>
        <p:nvSpPr>
          <p:cNvPr id="32" name="stack label"/>
          <p:cNvSpPr txBox="1"/>
          <p:nvPr/>
        </p:nvSpPr>
        <p:spPr>
          <a:xfrm>
            <a:off x="548640" y="5733288"/>
            <a:ext cx="1005840" cy="329184"/>
          </a:xfrm>
          <a:prstGeom prst="rect">
            <a:avLst/>
          </a:prstGeom>
          <a:noFill/>
          <a:ln/>
        </p:spPr>
        <p:txBody>
          <a:bodyPr wrap="square" lIns="0" tIns="0" rIns="0" bIns="0" rtlCol="0" anchor="ctr"/>
          <a:lstStyle/>
          <a:p>
            <a:pPr indent="0" marL="0">
              <a:buNone/>
            </a:pPr>
            <a:r>
              <a:rPr lang="en-US" sz="1200" b="1" dirty="0">
                <a:solidFill>
                  <a:schemeClr val="accent2"/>
                </a:solidFill>
              </a:rPr>
              <a:t>Built with</a:t>
            </a:r>
            <a:endParaRPr lang="en-US" sz="1200" dirty="0"/>
          </a:p>
        </p:txBody>
      </p:sp>
      <p:sp>
        <p:nvSpPr>
          <p:cNvPr id="33" name="stack chip 1"/>
          <p:cNvSpPr/>
          <p:nvPr/>
        </p:nvSpPr>
        <p:spPr>
          <a:xfrm>
            <a:off x="1554480" y="5733288"/>
            <a:ext cx="1042416" cy="329184"/>
          </a:xfrm>
          <a:prstGeom prst="roundRect">
            <a:avLst>
              <a:gd name="adj" fmla="val 50000"/>
            </a:avLst>
          </a:prstGeom>
          <a:solidFill>
            <a:schemeClr val="bg1"/>
          </a:solidFill>
          <a:ln w="9525">
            <a:solidFill>
              <a:schemeClr val="accent5"/>
            </a:solidFill>
            <a:prstDash val="solid"/>
          </a:ln>
        </p:spPr>
      </p:sp>
      <p:sp>
        <p:nvSpPr>
          <p:cNvPr id="34" name="stack text 1"/>
          <p:cNvSpPr txBox="1"/>
          <p:nvPr/>
        </p:nvSpPr>
        <p:spPr>
          <a:xfrm>
            <a:off x="1554480" y="5733288"/>
            <a:ext cx="1042416" cy="329184"/>
          </a:xfrm>
          <a:prstGeom prst="rect">
            <a:avLst/>
          </a:prstGeom>
          <a:noFill/>
          <a:ln/>
        </p:spPr>
        <p:txBody>
          <a:bodyPr wrap="square" lIns="0" tIns="0" rIns="0" bIns="0" rtlCol="0" anchor="ctr"/>
          <a:lstStyle/>
          <a:p>
            <a:pPr algn="ctr" indent="0" marL="0">
              <a:buNone/>
            </a:pPr>
            <a:r>
              <a:rPr lang="en-US" sz="1200" dirty="0">
                <a:solidFill>
                  <a:schemeClr val="accent2"/>
                </a:solidFill>
              </a:rPr>
              <a:t>Next.js 14</a:t>
            </a:r>
            <a:endParaRPr lang="en-US" sz="1200" dirty="0"/>
          </a:p>
        </p:txBody>
      </p:sp>
      <p:sp>
        <p:nvSpPr>
          <p:cNvPr id="35" name="stack chip 2"/>
          <p:cNvSpPr/>
          <p:nvPr/>
        </p:nvSpPr>
        <p:spPr>
          <a:xfrm>
            <a:off x="2706624" y="5733288"/>
            <a:ext cx="892454" cy="329184"/>
          </a:xfrm>
          <a:prstGeom prst="roundRect">
            <a:avLst>
              <a:gd name="adj" fmla="val 50000"/>
            </a:avLst>
          </a:prstGeom>
          <a:solidFill>
            <a:schemeClr val="bg1"/>
          </a:solidFill>
          <a:ln w="9525">
            <a:solidFill>
              <a:schemeClr val="accent5"/>
            </a:solidFill>
            <a:prstDash val="solid"/>
          </a:ln>
        </p:spPr>
      </p:sp>
      <p:sp>
        <p:nvSpPr>
          <p:cNvPr id="36" name="stack text 2"/>
          <p:cNvSpPr txBox="1"/>
          <p:nvPr/>
        </p:nvSpPr>
        <p:spPr>
          <a:xfrm>
            <a:off x="2706624" y="5733288"/>
            <a:ext cx="892454" cy="329184"/>
          </a:xfrm>
          <a:prstGeom prst="rect">
            <a:avLst/>
          </a:prstGeom>
          <a:noFill/>
          <a:ln/>
        </p:spPr>
        <p:txBody>
          <a:bodyPr wrap="square" lIns="0" tIns="0" rIns="0" bIns="0" rtlCol="0" anchor="ctr"/>
          <a:lstStyle/>
          <a:p>
            <a:pPr algn="ctr" indent="0" marL="0">
              <a:buNone/>
            </a:pPr>
            <a:r>
              <a:rPr lang="en-US" sz="1200" dirty="0">
                <a:solidFill>
                  <a:schemeClr val="accent2"/>
                </a:solidFill>
              </a:rPr>
              <a:t>React 18</a:t>
            </a:r>
            <a:endParaRPr lang="en-US" sz="1200" dirty="0"/>
          </a:p>
        </p:txBody>
      </p:sp>
      <p:sp>
        <p:nvSpPr>
          <p:cNvPr id="37" name="stack chip 3"/>
          <p:cNvSpPr/>
          <p:nvPr/>
        </p:nvSpPr>
        <p:spPr>
          <a:xfrm>
            <a:off x="3708806" y="5733288"/>
            <a:ext cx="892454" cy="329184"/>
          </a:xfrm>
          <a:prstGeom prst="roundRect">
            <a:avLst>
              <a:gd name="adj" fmla="val 50000"/>
            </a:avLst>
          </a:prstGeom>
          <a:solidFill>
            <a:schemeClr val="bg1"/>
          </a:solidFill>
          <a:ln w="9525">
            <a:solidFill>
              <a:schemeClr val="accent5"/>
            </a:solidFill>
            <a:prstDash val="solid"/>
          </a:ln>
        </p:spPr>
      </p:sp>
      <p:sp>
        <p:nvSpPr>
          <p:cNvPr id="38" name="stack text 3"/>
          <p:cNvSpPr txBox="1"/>
          <p:nvPr/>
        </p:nvSpPr>
        <p:spPr>
          <a:xfrm>
            <a:off x="3708806" y="5733288"/>
            <a:ext cx="892454" cy="329184"/>
          </a:xfrm>
          <a:prstGeom prst="rect">
            <a:avLst/>
          </a:prstGeom>
          <a:noFill/>
          <a:ln/>
        </p:spPr>
        <p:txBody>
          <a:bodyPr wrap="square" lIns="0" tIns="0" rIns="0" bIns="0" rtlCol="0" anchor="ctr"/>
          <a:lstStyle/>
          <a:p>
            <a:pPr algn="ctr" indent="0" marL="0">
              <a:buNone/>
            </a:pPr>
            <a:r>
              <a:rPr lang="en-US" sz="1200" dirty="0">
                <a:solidFill>
                  <a:schemeClr val="accent2"/>
                </a:solidFill>
              </a:rPr>
              <a:t>Tailwind</a:t>
            </a:r>
            <a:endParaRPr lang="en-US" sz="1200" dirty="0"/>
          </a:p>
        </p:txBody>
      </p:sp>
      <p:sp>
        <p:nvSpPr>
          <p:cNvPr id="39" name="stack chip 4"/>
          <p:cNvSpPr/>
          <p:nvPr/>
        </p:nvSpPr>
        <p:spPr>
          <a:xfrm>
            <a:off x="4710989" y="5733288"/>
            <a:ext cx="1267358" cy="329184"/>
          </a:xfrm>
          <a:prstGeom prst="roundRect">
            <a:avLst>
              <a:gd name="adj" fmla="val 50000"/>
            </a:avLst>
          </a:prstGeom>
          <a:solidFill>
            <a:schemeClr val="bg1"/>
          </a:solidFill>
          <a:ln w="9525">
            <a:solidFill>
              <a:schemeClr val="accent5"/>
            </a:solidFill>
            <a:prstDash val="solid"/>
          </a:ln>
        </p:spPr>
      </p:sp>
      <p:sp>
        <p:nvSpPr>
          <p:cNvPr id="40" name="stack text 4"/>
          <p:cNvSpPr txBox="1"/>
          <p:nvPr/>
        </p:nvSpPr>
        <p:spPr>
          <a:xfrm>
            <a:off x="4710989" y="5733288"/>
            <a:ext cx="1267358" cy="329184"/>
          </a:xfrm>
          <a:prstGeom prst="rect">
            <a:avLst/>
          </a:prstGeom>
          <a:noFill/>
          <a:ln/>
        </p:spPr>
        <p:txBody>
          <a:bodyPr wrap="square" lIns="0" tIns="0" rIns="0" bIns="0" rtlCol="0" anchor="ctr"/>
          <a:lstStyle/>
          <a:p>
            <a:pPr algn="ctr" indent="0" marL="0">
              <a:buNone/>
            </a:pPr>
            <a:r>
              <a:rPr lang="en-US" sz="1200" dirty="0">
                <a:solidFill>
                  <a:schemeClr val="accent2"/>
                </a:solidFill>
              </a:rPr>
              <a:t>Framer Motion</a:t>
            </a:r>
            <a:endParaRPr lang="en-US" sz="1200" dirty="0"/>
          </a:p>
        </p:txBody>
      </p:sp>
      <p:sp>
        <p:nvSpPr>
          <p:cNvPr id="41" name="stack chip 5"/>
          <p:cNvSpPr/>
          <p:nvPr/>
        </p:nvSpPr>
        <p:spPr>
          <a:xfrm>
            <a:off x="6088075" y="5733288"/>
            <a:ext cx="817474" cy="329184"/>
          </a:xfrm>
          <a:prstGeom prst="roundRect">
            <a:avLst>
              <a:gd name="adj" fmla="val 50000"/>
            </a:avLst>
          </a:prstGeom>
          <a:solidFill>
            <a:schemeClr val="bg1"/>
          </a:solidFill>
          <a:ln w="9525">
            <a:solidFill>
              <a:schemeClr val="accent5"/>
            </a:solidFill>
            <a:prstDash val="solid"/>
          </a:ln>
        </p:spPr>
      </p:sp>
      <p:sp>
        <p:nvSpPr>
          <p:cNvPr id="42" name="stack text 5"/>
          <p:cNvSpPr txBox="1"/>
          <p:nvPr/>
        </p:nvSpPr>
        <p:spPr>
          <a:xfrm>
            <a:off x="6088075" y="5733288"/>
            <a:ext cx="817474" cy="329184"/>
          </a:xfrm>
          <a:prstGeom prst="rect">
            <a:avLst/>
          </a:prstGeom>
          <a:noFill/>
          <a:ln/>
        </p:spPr>
        <p:txBody>
          <a:bodyPr wrap="square" lIns="0" tIns="0" rIns="0" bIns="0" rtlCol="0" anchor="ctr"/>
          <a:lstStyle/>
          <a:p>
            <a:pPr algn="ctr" indent="0" marL="0">
              <a:buNone/>
            </a:pPr>
            <a:r>
              <a:rPr lang="en-US" sz="1200" dirty="0">
                <a:solidFill>
                  <a:schemeClr val="accent2"/>
                </a:solidFill>
              </a:rPr>
              <a:t>FastAPI</a:t>
            </a:r>
            <a:endParaRPr lang="en-US" sz="1200" dirty="0"/>
          </a:p>
        </p:txBody>
      </p:sp>
      <p:sp>
        <p:nvSpPr>
          <p:cNvPr id="43" name="stack chip 6"/>
          <p:cNvSpPr/>
          <p:nvPr/>
        </p:nvSpPr>
        <p:spPr>
          <a:xfrm>
            <a:off x="7015277" y="5733288"/>
            <a:ext cx="1192378" cy="329184"/>
          </a:xfrm>
          <a:prstGeom prst="roundRect">
            <a:avLst>
              <a:gd name="adj" fmla="val 50000"/>
            </a:avLst>
          </a:prstGeom>
          <a:solidFill>
            <a:schemeClr val="bg1"/>
          </a:solidFill>
          <a:ln w="9525">
            <a:solidFill>
              <a:schemeClr val="accent5"/>
            </a:solidFill>
            <a:prstDash val="solid"/>
          </a:ln>
        </p:spPr>
      </p:sp>
      <p:sp>
        <p:nvSpPr>
          <p:cNvPr id="44" name="stack text 6"/>
          <p:cNvSpPr txBox="1"/>
          <p:nvPr/>
        </p:nvSpPr>
        <p:spPr>
          <a:xfrm>
            <a:off x="7015277" y="5733288"/>
            <a:ext cx="1192378" cy="329184"/>
          </a:xfrm>
          <a:prstGeom prst="rect">
            <a:avLst/>
          </a:prstGeom>
          <a:noFill/>
          <a:ln/>
        </p:spPr>
        <p:txBody>
          <a:bodyPr wrap="square" lIns="0" tIns="0" rIns="0" bIns="0" rtlCol="0" anchor="ctr"/>
          <a:lstStyle/>
          <a:p>
            <a:pPr algn="ctr" indent="0" marL="0">
              <a:buNone/>
            </a:pPr>
            <a:r>
              <a:rPr lang="en-US" sz="1200" dirty="0">
                <a:solidFill>
                  <a:schemeClr val="accent2"/>
                </a:solidFill>
              </a:rPr>
              <a:t>SQLAlchemy 2</a:t>
            </a:r>
            <a:endParaRPr lang="en-US" sz="1200" dirty="0"/>
          </a:p>
        </p:txBody>
      </p:sp>
      <p:sp>
        <p:nvSpPr>
          <p:cNvPr id="45" name="stack chip 7"/>
          <p:cNvSpPr/>
          <p:nvPr/>
        </p:nvSpPr>
        <p:spPr>
          <a:xfrm>
            <a:off x="8317382" y="5733288"/>
            <a:ext cx="817474" cy="329184"/>
          </a:xfrm>
          <a:prstGeom prst="roundRect">
            <a:avLst>
              <a:gd name="adj" fmla="val 50000"/>
            </a:avLst>
          </a:prstGeom>
          <a:solidFill>
            <a:schemeClr val="bg1"/>
          </a:solidFill>
          <a:ln w="9525">
            <a:solidFill>
              <a:schemeClr val="accent5"/>
            </a:solidFill>
            <a:prstDash val="solid"/>
          </a:ln>
        </p:spPr>
      </p:sp>
      <p:sp>
        <p:nvSpPr>
          <p:cNvPr id="46" name="stack text 7"/>
          <p:cNvSpPr txBox="1"/>
          <p:nvPr/>
        </p:nvSpPr>
        <p:spPr>
          <a:xfrm>
            <a:off x="8317382" y="5733288"/>
            <a:ext cx="817474" cy="329184"/>
          </a:xfrm>
          <a:prstGeom prst="rect">
            <a:avLst/>
          </a:prstGeom>
          <a:noFill/>
          <a:ln/>
        </p:spPr>
        <p:txBody>
          <a:bodyPr wrap="square" lIns="0" tIns="0" rIns="0" bIns="0" rtlCol="0" anchor="ctr"/>
          <a:lstStyle/>
          <a:p>
            <a:pPr algn="ctr" indent="0" marL="0">
              <a:buNone/>
            </a:pPr>
            <a:r>
              <a:rPr lang="en-US" sz="1200" dirty="0">
                <a:solidFill>
                  <a:schemeClr val="accent2"/>
                </a:solidFill>
              </a:rPr>
              <a:t>sqlglot</a:t>
            </a:r>
            <a:endParaRPr lang="en-US" sz="1200" dirty="0"/>
          </a:p>
        </p:txBody>
      </p:sp>
      <p:sp>
        <p:nvSpPr>
          <p:cNvPr id="47" name="stack chip 8"/>
          <p:cNvSpPr/>
          <p:nvPr/>
        </p:nvSpPr>
        <p:spPr>
          <a:xfrm>
            <a:off x="9244584" y="5733288"/>
            <a:ext cx="592531" cy="329184"/>
          </a:xfrm>
          <a:prstGeom prst="roundRect">
            <a:avLst>
              <a:gd name="adj" fmla="val 50000"/>
            </a:avLst>
          </a:prstGeom>
          <a:solidFill>
            <a:schemeClr val="bg1"/>
          </a:solidFill>
          <a:ln w="9525">
            <a:solidFill>
              <a:schemeClr val="accent5"/>
            </a:solidFill>
            <a:prstDash val="solid"/>
          </a:ln>
        </p:spPr>
      </p:sp>
      <p:sp>
        <p:nvSpPr>
          <p:cNvPr id="48" name="stack text 8"/>
          <p:cNvSpPr txBox="1"/>
          <p:nvPr/>
        </p:nvSpPr>
        <p:spPr>
          <a:xfrm>
            <a:off x="9244584" y="5733288"/>
            <a:ext cx="592531" cy="329184"/>
          </a:xfrm>
          <a:prstGeom prst="rect">
            <a:avLst/>
          </a:prstGeom>
          <a:noFill/>
          <a:ln/>
        </p:spPr>
        <p:txBody>
          <a:bodyPr wrap="square" lIns="0" tIns="0" rIns="0" bIns="0" rtlCol="0" anchor="ctr"/>
          <a:lstStyle/>
          <a:p>
            <a:pPr algn="ctr" indent="0" marL="0">
              <a:buNone/>
            </a:pPr>
            <a:r>
              <a:rPr lang="en-US" sz="1200" dirty="0">
                <a:solidFill>
                  <a:schemeClr val="accent2"/>
                </a:solidFill>
              </a:rPr>
              <a:t>Groq</a:t>
            </a:r>
            <a:endParaRPr lang="en-US" sz="1200" dirty="0"/>
          </a:p>
        </p:txBody>
      </p:sp>
      <p:sp>
        <p:nvSpPr>
          <p:cNvPr id="49" name="stack chip 9"/>
          <p:cNvSpPr/>
          <p:nvPr/>
        </p:nvSpPr>
        <p:spPr>
          <a:xfrm>
            <a:off x="9946843" y="5733288"/>
            <a:ext cx="667512" cy="329184"/>
          </a:xfrm>
          <a:prstGeom prst="roundRect">
            <a:avLst>
              <a:gd name="adj" fmla="val 50000"/>
            </a:avLst>
          </a:prstGeom>
          <a:solidFill>
            <a:schemeClr val="bg1"/>
          </a:solidFill>
          <a:ln w="9525">
            <a:solidFill>
              <a:schemeClr val="accent5"/>
            </a:solidFill>
            <a:prstDash val="solid"/>
          </a:ln>
        </p:spPr>
      </p:sp>
      <p:sp>
        <p:nvSpPr>
          <p:cNvPr id="50" name="stack text 9"/>
          <p:cNvSpPr txBox="1"/>
          <p:nvPr/>
        </p:nvSpPr>
        <p:spPr>
          <a:xfrm>
            <a:off x="9946843" y="5733288"/>
            <a:ext cx="667512" cy="329184"/>
          </a:xfrm>
          <a:prstGeom prst="rect">
            <a:avLst/>
          </a:prstGeom>
          <a:noFill/>
          <a:ln/>
        </p:spPr>
        <p:txBody>
          <a:bodyPr wrap="square" lIns="0" tIns="0" rIns="0" bIns="0" rtlCol="0" anchor="ctr"/>
          <a:lstStyle/>
          <a:p>
            <a:pPr algn="ctr" indent="0" marL="0">
              <a:buNone/>
            </a:pPr>
            <a:r>
              <a:rPr lang="en-US" sz="1200" dirty="0">
                <a:solidFill>
                  <a:schemeClr val="accent2"/>
                </a:solidFill>
              </a:rPr>
              <a:t>FAISS</a:t>
            </a:r>
            <a:endParaRPr lang="en-US" sz="1200" dirty="0"/>
          </a:p>
        </p:txBody>
      </p:sp>
      <p:sp>
        <p:nvSpPr>
          <p:cNvPr id="51" name="stack chip 10"/>
          <p:cNvSpPr/>
          <p:nvPr/>
        </p:nvSpPr>
        <p:spPr>
          <a:xfrm>
            <a:off x="10724083" y="5733288"/>
            <a:ext cx="742493" cy="329184"/>
          </a:xfrm>
          <a:prstGeom prst="roundRect">
            <a:avLst>
              <a:gd name="adj" fmla="val 50000"/>
            </a:avLst>
          </a:prstGeom>
          <a:solidFill>
            <a:schemeClr val="bg1"/>
          </a:solidFill>
          <a:ln w="9525">
            <a:solidFill>
              <a:schemeClr val="accent5"/>
            </a:solidFill>
            <a:prstDash val="solid"/>
          </a:ln>
        </p:spPr>
      </p:sp>
      <p:sp>
        <p:nvSpPr>
          <p:cNvPr id="52" name="stack text 10"/>
          <p:cNvSpPr txBox="1"/>
          <p:nvPr/>
        </p:nvSpPr>
        <p:spPr>
          <a:xfrm>
            <a:off x="10724083" y="5733288"/>
            <a:ext cx="742493" cy="329184"/>
          </a:xfrm>
          <a:prstGeom prst="rect">
            <a:avLst/>
          </a:prstGeom>
          <a:noFill/>
          <a:ln/>
        </p:spPr>
        <p:txBody>
          <a:bodyPr wrap="square" lIns="0" tIns="0" rIns="0" bIns="0" rtlCol="0" anchor="ctr"/>
          <a:lstStyle/>
          <a:p>
            <a:pPr algn="ctr" indent="0" marL="0">
              <a:buNone/>
            </a:pPr>
            <a:r>
              <a:rPr lang="en-US" sz="1200" dirty="0">
                <a:solidFill>
                  <a:schemeClr val="accent2"/>
                </a:solidFill>
              </a:rPr>
              <a:t>Docker</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From question to answer in eight steps</a:t>
            </a:r>
            <a:endParaRPr lang="en-US" sz="3600" dirty="0"/>
          </a:p>
        </p:txBody>
      </p:sp>
      <p:sp>
        <p:nvSpPr>
          <p:cNvPr id="3" name="step circle 1"/>
          <p:cNvSpPr/>
          <p:nvPr/>
        </p:nvSpPr>
        <p:spPr>
          <a:xfrm>
            <a:off x="548640" y="1408176"/>
            <a:ext cx="420624" cy="420624"/>
          </a:xfrm>
          <a:prstGeom prst="ellipse">
            <a:avLst/>
          </a:prstGeom>
          <a:solidFill>
            <a:schemeClr val="accent1"/>
          </a:solidFill>
          <a:ln w="12700">
            <a:solidFill>
              <a:schemeClr val="accent1"/>
            </a:solidFill>
            <a:prstDash val="solid"/>
          </a:ln>
        </p:spPr>
      </p:sp>
      <p:sp>
        <p:nvSpPr>
          <p:cNvPr id="4" name="step number 1"/>
          <p:cNvSpPr txBox="1"/>
          <p:nvPr/>
        </p:nvSpPr>
        <p:spPr>
          <a:xfrm>
            <a:off x="548640" y="14081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 text 1"/>
          <p:cNvSpPr txBox="1"/>
          <p:nvPr/>
        </p:nvSpPr>
        <p:spPr>
          <a:xfrm>
            <a:off x="1143000" y="1371600"/>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Ask</a:t>
            </a:r>
            <a:endParaRPr lang="en-US" sz="1600" dirty="0"/>
          </a:p>
          <a:p>
            <a:pPr indent="0" marL="0">
              <a:buNone/>
            </a:pPr>
            <a:r>
              <a:rPr lang="en-US" sz="1200" dirty="0">
                <a:solidFill>
                  <a:schemeClr val="tx1">
                    <a:alpha val="75000"/>
                  </a:schemeClr>
                </a:solidFill>
              </a:rPr>
              <a:t>Browser sends the question to /ask/stream</a:t>
            </a:r>
            <a:endParaRPr lang="en-US" sz="1600" dirty="0"/>
          </a:p>
        </p:txBody>
      </p:sp>
      <p:sp>
        <p:nvSpPr>
          <p:cNvPr id="6" name="step circle 2"/>
          <p:cNvSpPr/>
          <p:nvPr/>
        </p:nvSpPr>
        <p:spPr>
          <a:xfrm>
            <a:off x="548640" y="1993392"/>
            <a:ext cx="420624" cy="420624"/>
          </a:xfrm>
          <a:prstGeom prst="ellipse">
            <a:avLst/>
          </a:prstGeom>
          <a:solidFill>
            <a:schemeClr val="accent1"/>
          </a:solidFill>
          <a:ln w="12700">
            <a:solidFill>
              <a:schemeClr val="accent1"/>
            </a:solidFill>
            <a:prstDash val="solid"/>
          </a:ln>
        </p:spPr>
      </p:sp>
      <p:sp>
        <p:nvSpPr>
          <p:cNvPr id="7" name="step number 2"/>
          <p:cNvSpPr txBox="1"/>
          <p:nvPr/>
        </p:nvSpPr>
        <p:spPr>
          <a:xfrm>
            <a:off x="548640" y="199339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step text 2"/>
          <p:cNvSpPr txBox="1"/>
          <p:nvPr/>
        </p:nvSpPr>
        <p:spPr>
          <a:xfrm>
            <a:off x="1143000" y="1956816"/>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Recall</a:t>
            </a:r>
            <a:endParaRPr lang="en-US" sz="1600" dirty="0"/>
          </a:p>
          <a:p>
            <a:pPr indent="0" marL="0">
              <a:buNone/>
            </a:pPr>
            <a:r>
              <a:rPr lang="en-US" sz="1200" dirty="0">
                <a:solidFill>
                  <a:schemeClr val="tx1">
                    <a:alpha val="75000"/>
                  </a:schemeClr>
                </a:solidFill>
              </a:rPr>
              <a:t>3 similar earlier answers from FAISS memory</a:t>
            </a:r>
            <a:endParaRPr lang="en-US" sz="1600" dirty="0"/>
          </a:p>
        </p:txBody>
      </p:sp>
      <p:sp>
        <p:nvSpPr>
          <p:cNvPr id="9" name="step circle 3"/>
          <p:cNvSpPr/>
          <p:nvPr/>
        </p:nvSpPr>
        <p:spPr>
          <a:xfrm>
            <a:off x="548640" y="2578608"/>
            <a:ext cx="420624" cy="420624"/>
          </a:xfrm>
          <a:prstGeom prst="ellipse">
            <a:avLst/>
          </a:prstGeom>
          <a:solidFill>
            <a:schemeClr val="accent1"/>
          </a:solidFill>
          <a:ln w="12700">
            <a:solidFill>
              <a:schemeClr val="accent1"/>
            </a:solidFill>
            <a:prstDash val="solid"/>
          </a:ln>
        </p:spPr>
      </p:sp>
      <p:sp>
        <p:nvSpPr>
          <p:cNvPr id="10" name="step number 3"/>
          <p:cNvSpPr txBox="1"/>
          <p:nvPr/>
        </p:nvSpPr>
        <p:spPr>
          <a:xfrm>
            <a:off x="548640" y="257860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step text 3"/>
          <p:cNvSpPr txBox="1"/>
          <p:nvPr/>
        </p:nvSpPr>
        <p:spPr>
          <a:xfrm>
            <a:off x="1143000" y="2542032"/>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Pick the database</a:t>
            </a:r>
            <a:endParaRPr lang="en-US" sz="1600" dirty="0"/>
          </a:p>
          <a:p>
            <a:pPr indent="0" marL="0">
              <a:buNone/>
            </a:pPr>
            <a:r>
              <a:rPr lang="en-US" sz="1200" dirty="0">
                <a:solidFill>
                  <a:schemeClr val="tx1">
                    <a:alpha val="75000"/>
                  </a:schemeClr>
                </a:solidFill>
              </a:rPr>
              <a:t>Its SQL dialect and allowed tables</a:t>
            </a:r>
            <a:endParaRPr lang="en-US" sz="1600" dirty="0"/>
          </a:p>
        </p:txBody>
      </p:sp>
      <p:sp>
        <p:nvSpPr>
          <p:cNvPr id="12" name="step circle 4"/>
          <p:cNvSpPr/>
          <p:nvPr/>
        </p:nvSpPr>
        <p:spPr>
          <a:xfrm>
            <a:off x="548640" y="3163824"/>
            <a:ext cx="420624" cy="420624"/>
          </a:xfrm>
          <a:prstGeom prst="ellipse">
            <a:avLst/>
          </a:prstGeom>
          <a:solidFill>
            <a:schemeClr val="accent1"/>
          </a:solidFill>
          <a:ln w="12700">
            <a:solidFill>
              <a:schemeClr val="accent1"/>
            </a:solidFill>
            <a:prstDash val="solid"/>
          </a:ln>
        </p:spPr>
      </p:sp>
      <p:sp>
        <p:nvSpPr>
          <p:cNvPr id="13" name="step number 4"/>
          <p:cNvSpPr txBox="1"/>
          <p:nvPr/>
        </p:nvSpPr>
        <p:spPr>
          <a:xfrm>
            <a:off x="548640" y="31638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step text 4"/>
          <p:cNvSpPr txBox="1"/>
          <p:nvPr/>
        </p:nvSpPr>
        <p:spPr>
          <a:xfrm>
            <a:off x="1143000" y="3127248"/>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Write SQL</a:t>
            </a:r>
            <a:endParaRPr lang="en-US" sz="1600" dirty="0"/>
          </a:p>
          <a:p>
            <a:pPr indent="0" marL="0">
              <a:buNone/>
            </a:pPr>
            <a:r>
              <a:rPr lang="en-US" sz="1200" dirty="0">
                <a:solidFill>
                  <a:schemeClr val="tx1">
                    <a:alpha val="75000"/>
                  </a:schemeClr>
                </a:solidFill>
              </a:rPr>
              <a:t>Groq writes it — or the user's own SQL is used</a:t>
            </a:r>
            <a:endParaRPr lang="en-US" sz="1600" dirty="0"/>
          </a:p>
        </p:txBody>
      </p:sp>
      <p:sp>
        <p:nvSpPr>
          <p:cNvPr id="15" name="step circle 5"/>
          <p:cNvSpPr/>
          <p:nvPr/>
        </p:nvSpPr>
        <p:spPr>
          <a:xfrm>
            <a:off x="548640" y="3749040"/>
            <a:ext cx="420624" cy="420624"/>
          </a:xfrm>
          <a:prstGeom prst="ellipse">
            <a:avLst/>
          </a:prstGeom>
          <a:solidFill>
            <a:schemeClr val="accent3"/>
          </a:solidFill>
          <a:ln w="12700">
            <a:solidFill>
              <a:schemeClr val="accent3"/>
            </a:solidFill>
            <a:prstDash val="solid"/>
          </a:ln>
        </p:spPr>
      </p:sp>
      <p:sp>
        <p:nvSpPr>
          <p:cNvPr id="16" name="step number 5"/>
          <p:cNvSpPr txBox="1"/>
          <p:nvPr/>
        </p:nvSpPr>
        <p:spPr>
          <a:xfrm>
            <a:off x="548640" y="37490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step text 5"/>
          <p:cNvSpPr txBox="1"/>
          <p:nvPr/>
        </p:nvSpPr>
        <p:spPr>
          <a:xfrm>
            <a:off x="1143000" y="3712464"/>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Validate</a:t>
            </a:r>
            <a:endParaRPr lang="en-US" sz="1600" dirty="0"/>
          </a:p>
          <a:p>
            <a:pPr indent="0" marL="0">
              <a:buNone/>
            </a:pPr>
            <a:r>
              <a:rPr lang="en-US" sz="1200" dirty="0">
                <a:solidFill>
                  <a:schemeClr val="tx1">
                    <a:alpha val="75000"/>
                  </a:schemeClr>
                </a:solidFill>
              </a:rPr>
              <a:t>11 safety checks must all pass</a:t>
            </a:r>
            <a:endParaRPr lang="en-US" sz="1600" dirty="0"/>
          </a:p>
        </p:txBody>
      </p:sp>
      <p:sp>
        <p:nvSpPr>
          <p:cNvPr id="18" name="step circle 6"/>
          <p:cNvSpPr/>
          <p:nvPr/>
        </p:nvSpPr>
        <p:spPr>
          <a:xfrm>
            <a:off x="548640" y="4334256"/>
            <a:ext cx="420624" cy="420624"/>
          </a:xfrm>
          <a:prstGeom prst="ellipse">
            <a:avLst/>
          </a:prstGeom>
          <a:solidFill>
            <a:schemeClr val="accent1"/>
          </a:solidFill>
          <a:ln w="12700">
            <a:solidFill>
              <a:schemeClr val="accent1"/>
            </a:solidFill>
            <a:prstDash val="solid"/>
          </a:ln>
        </p:spPr>
      </p:sp>
      <p:sp>
        <p:nvSpPr>
          <p:cNvPr id="19" name="step number 6"/>
          <p:cNvSpPr txBox="1"/>
          <p:nvPr/>
        </p:nvSpPr>
        <p:spPr>
          <a:xfrm>
            <a:off x="548640" y="433425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step text 6"/>
          <p:cNvSpPr txBox="1"/>
          <p:nvPr/>
        </p:nvSpPr>
        <p:spPr>
          <a:xfrm>
            <a:off x="1143000" y="4297680"/>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Run</a:t>
            </a:r>
            <a:endParaRPr lang="en-US" sz="1600" dirty="0"/>
          </a:p>
          <a:p>
            <a:pPr indent="0" marL="0">
              <a:buNone/>
            </a:pPr>
            <a:r>
              <a:rPr lang="en-US" sz="1200" dirty="0">
                <a:solidFill>
                  <a:schemeClr val="tx1">
                    <a:alpha val="75000"/>
                  </a:schemeClr>
                </a:solidFill>
              </a:rPr>
              <a:t>Read-only, row cap, timeout, rolled back</a:t>
            </a:r>
            <a:endParaRPr lang="en-US" sz="1600" dirty="0"/>
          </a:p>
        </p:txBody>
      </p:sp>
      <p:sp>
        <p:nvSpPr>
          <p:cNvPr id="21" name="step circle 7"/>
          <p:cNvSpPr/>
          <p:nvPr/>
        </p:nvSpPr>
        <p:spPr>
          <a:xfrm>
            <a:off x="548640" y="4919472"/>
            <a:ext cx="420624" cy="420624"/>
          </a:xfrm>
          <a:prstGeom prst="ellipse">
            <a:avLst/>
          </a:prstGeom>
          <a:solidFill>
            <a:schemeClr val="accent1"/>
          </a:solidFill>
          <a:ln w="12700">
            <a:solidFill>
              <a:schemeClr val="accent1"/>
            </a:solidFill>
            <a:prstDash val="solid"/>
          </a:ln>
        </p:spPr>
      </p:sp>
      <p:sp>
        <p:nvSpPr>
          <p:cNvPr id="22" name="step number 7"/>
          <p:cNvSpPr txBox="1"/>
          <p:nvPr/>
        </p:nvSpPr>
        <p:spPr>
          <a:xfrm>
            <a:off x="548640" y="491947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step text 7"/>
          <p:cNvSpPr txBox="1"/>
          <p:nvPr/>
        </p:nvSpPr>
        <p:spPr>
          <a:xfrm>
            <a:off x="1143000" y="4882896"/>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Stream</a:t>
            </a:r>
            <a:endParaRPr lang="en-US" sz="1600" dirty="0"/>
          </a:p>
          <a:p>
            <a:pPr indent="0" marL="0">
              <a:buNone/>
            </a:pPr>
            <a:r>
              <a:rPr lang="en-US" sz="1200" dirty="0">
                <a:solidFill>
                  <a:schemeClr val="tx1">
                    <a:alpha val="75000"/>
                  </a:schemeClr>
                </a:solidFill>
              </a:rPr>
              <a:t>Table and chart first, then the explanation</a:t>
            </a:r>
            <a:endParaRPr lang="en-US" sz="1600" dirty="0"/>
          </a:p>
        </p:txBody>
      </p:sp>
      <p:sp>
        <p:nvSpPr>
          <p:cNvPr id="24" name="step circle 8"/>
          <p:cNvSpPr/>
          <p:nvPr/>
        </p:nvSpPr>
        <p:spPr>
          <a:xfrm>
            <a:off x="548640" y="5504688"/>
            <a:ext cx="420624" cy="420624"/>
          </a:xfrm>
          <a:prstGeom prst="ellipse">
            <a:avLst/>
          </a:prstGeom>
          <a:solidFill>
            <a:schemeClr val="accent1"/>
          </a:solidFill>
          <a:ln w="12700">
            <a:solidFill>
              <a:schemeClr val="accent1"/>
            </a:solidFill>
            <a:prstDash val="solid"/>
          </a:ln>
        </p:spPr>
      </p:sp>
      <p:sp>
        <p:nvSpPr>
          <p:cNvPr id="25" name="step number 8"/>
          <p:cNvSpPr txBox="1"/>
          <p:nvPr/>
        </p:nvSpPr>
        <p:spPr>
          <a:xfrm>
            <a:off x="548640" y="550468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6" name="step text 8"/>
          <p:cNvSpPr txBox="1"/>
          <p:nvPr/>
        </p:nvSpPr>
        <p:spPr>
          <a:xfrm>
            <a:off x="1143000" y="5468112"/>
            <a:ext cx="4297680" cy="512064"/>
          </a:xfrm>
          <a:prstGeom prst="rect">
            <a:avLst/>
          </a:prstGeom>
          <a:noFill/>
          <a:ln/>
        </p:spPr>
        <p:txBody>
          <a:bodyPr wrap="square" lIns="0" tIns="0" rIns="0" bIns="0" rtlCol="0" anchor="ctr"/>
          <a:lstStyle/>
          <a:p>
            <a:pPr indent="0" marL="0">
              <a:buNone/>
            </a:pPr>
            <a:r>
              <a:rPr lang="en-US" sz="1600" b="1" dirty="0">
                <a:solidFill>
                  <a:schemeClr val="tx2"/>
                </a:solidFill>
              </a:rPr>
              <a:t>Save</a:t>
            </a:r>
            <a:endParaRPr lang="en-US" sz="1600" dirty="0"/>
          </a:p>
          <a:p>
            <a:pPr indent="0" marL="0">
              <a:buNone/>
            </a:pPr>
            <a:r>
              <a:rPr lang="en-US" sz="1200" dirty="0">
                <a:solidFill>
                  <a:schemeClr val="tx1">
                    <a:alpha val="75000"/>
                  </a:schemeClr>
                </a:solidFill>
              </a:rPr>
              <a:t>Chat history, memory and audit log</a:t>
            </a:r>
            <a:endParaRPr lang="en-US" sz="1600" dirty="0"/>
          </a:p>
        </p:txBody>
      </p:sp>
      <p:sp>
        <p:nvSpPr>
          <p:cNvPr id="27" name="chat answer frame"/>
          <p:cNvSpPr/>
          <p:nvPr/>
        </p:nvSpPr>
        <p:spPr>
          <a:xfrm>
            <a:off x="5650992" y="1371600"/>
            <a:ext cx="5989320" cy="4013073"/>
          </a:xfrm>
          <a:prstGeom prst="roundRect">
            <a:avLst>
              <a:gd name="adj" fmla="val 1823"/>
            </a:avLst>
          </a:prstGeom>
          <a:solidFill>
            <a:schemeClr val="bg2"/>
          </a:solidFill>
          <a:ln w="9525">
            <a:solidFill>
              <a:schemeClr val="accent5"/>
            </a:solidFill>
            <a:prstDash val="solid"/>
          </a:ln>
          <a:effectLst>
            <a:outerShdw sx="100000" sy="100000" kx="0" ky="0" algn="bl" rotWithShape="0" blurRad="127000" dist="38100" dir="5400000">
              <a:srgbClr val="0F172A">
                <a:alpha val="14000"/>
              </a:srgbClr>
            </a:outerShdw>
          </a:effectLst>
        </p:spPr>
      </p:sp>
      <p:sp>
        <p:nvSpPr>
          <p:cNvPr id="28" name="chat answer dot 1"/>
          <p:cNvSpPr/>
          <p:nvPr/>
        </p:nvSpPr>
        <p:spPr>
          <a:xfrm>
            <a:off x="5779008" y="1463040"/>
            <a:ext cx="91440" cy="91440"/>
          </a:xfrm>
          <a:prstGeom prst="ellipse">
            <a:avLst/>
          </a:prstGeom>
          <a:solidFill>
            <a:schemeClr val="accent6"/>
          </a:solidFill>
          <a:ln w="12700">
            <a:solidFill>
              <a:schemeClr val="accent6"/>
            </a:solidFill>
            <a:prstDash val="solid"/>
          </a:ln>
        </p:spPr>
      </p:sp>
      <p:sp>
        <p:nvSpPr>
          <p:cNvPr id="29" name="chat answer dot 2"/>
          <p:cNvSpPr/>
          <p:nvPr/>
        </p:nvSpPr>
        <p:spPr>
          <a:xfrm>
            <a:off x="5925312" y="1463040"/>
            <a:ext cx="91440" cy="91440"/>
          </a:xfrm>
          <a:prstGeom prst="ellipse">
            <a:avLst/>
          </a:prstGeom>
          <a:solidFill>
            <a:schemeClr val="accent3"/>
          </a:solidFill>
          <a:ln w="12700">
            <a:solidFill>
              <a:schemeClr val="accent3"/>
            </a:solidFill>
            <a:prstDash val="solid"/>
          </a:ln>
        </p:spPr>
      </p:sp>
      <p:sp>
        <p:nvSpPr>
          <p:cNvPr id="30" name="chat answer dot 3"/>
          <p:cNvSpPr/>
          <p:nvPr/>
        </p:nvSpPr>
        <p:spPr>
          <a:xfrm>
            <a:off x="6071616" y="1463040"/>
            <a:ext cx="91440" cy="91440"/>
          </a:xfrm>
          <a:prstGeom prst="ellipse">
            <a:avLst/>
          </a:prstGeom>
          <a:solidFill>
            <a:schemeClr val="accent1"/>
          </a:solidFill>
          <a:ln w="12700">
            <a:solidFill>
              <a:schemeClr val="accent1"/>
            </a:solidFill>
            <a:prstDash val="solid"/>
          </a:ln>
        </p:spPr>
      </p:sp>
      <p:sp>
        <p:nvSpPr>
          <p:cNvPr id="31" name="chat answer address"/>
          <p:cNvSpPr txBox="1"/>
          <p:nvPr/>
        </p:nvSpPr>
        <p:spPr>
          <a:xfrm>
            <a:off x="6291072" y="1399032"/>
            <a:ext cx="4709160" cy="219456"/>
          </a:xfrm>
          <a:prstGeom prst="rect">
            <a:avLst/>
          </a:prstGeom>
          <a:noFill/>
          <a:ln/>
        </p:spPr>
        <p:txBody>
          <a:bodyPr wrap="square" lIns="0" tIns="0" rIns="0" bIns="0" rtlCol="0" anchor="ctr"/>
          <a:lstStyle/>
          <a:p>
            <a:pPr algn="ctr" indent="0" marL="0">
              <a:buNone/>
            </a:pPr>
            <a:r>
              <a:rPr lang="en-US" sz="1000" dirty="0">
                <a:solidFill>
                  <a:schemeClr val="tx1">
                    <a:alpha val="60000"/>
                  </a:schemeClr>
                </a:solidFill>
              </a:rPr>
              <a:t>localhost:3000/dashboard</a:t>
            </a:r>
            <a:endParaRPr lang="en-US" sz="1000" dirty="0"/>
          </a:p>
        </p:txBody>
      </p:sp>
      <p:pic>
        <p:nvPicPr>
          <p:cNvPr id="32" name="chat answer screenshot" descr="chat answer screenshot">    </p:cNvPr>
          <p:cNvPicPr>
            <a:picLocks noChangeAspect="1"/>
          </p:cNvPicPr>
          <p:nvPr/>
        </p:nvPicPr>
        <p:blipFill>
          <a:blip r:embed="rId1"/>
          <a:stretch>
            <a:fillRect/>
          </a:stretch>
        </p:blipFill>
        <p:spPr>
          <a:xfrm>
            <a:off x="5669280" y="1645920"/>
            <a:ext cx="5952744" cy="3720465"/>
          </a:xfrm>
          <a:prstGeom prst="rect">
            <a:avLst/>
          </a:prstGeom>
        </p:spPr>
      </p:pic>
      <p:sp>
        <p:nvSpPr>
          <p:cNvPr id="33" name="chat caption"/>
          <p:cNvSpPr txBox="1"/>
          <p:nvPr/>
        </p:nvSpPr>
        <p:spPr>
          <a:xfrm>
            <a:off x="5650992" y="5521833"/>
            <a:ext cx="5989320" cy="411480"/>
          </a:xfrm>
          <a:prstGeom prst="rect">
            <a:avLst/>
          </a:prstGeom>
          <a:noFill/>
          <a:ln/>
        </p:spPr>
        <p:txBody>
          <a:bodyPr wrap="square" lIns="0" tIns="0" rIns="0" bIns="0" rtlCol="0" anchor="ctr"/>
          <a:lstStyle/>
          <a:p>
            <a:pPr indent="0" marL="0">
              <a:buNone/>
            </a:pPr>
            <a:r>
              <a:rPr lang="en-US" sz="1200" dirty="0">
                <a:solidFill>
                  <a:schemeClr val="tx1">
                    <a:alpha val="75000"/>
                  </a:schemeClr>
                </a:solidFill>
              </a:rPr>
              <a:t>A real answer: SQL ran in 9 ms, automatic chart, summary streamed from Groq.</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Eleven checks guard every query</a:t>
            </a:r>
            <a:endParaRPr lang="en-US" sz="3600" dirty="0"/>
          </a:p>
        </p:txBody>
      </p:sp>
      <p:sp>
        <p:nvSpPr>
          <p:cNvPr id="3" name="layer card 1"/>
          <p:cNvSpPr/>
          <p:nvPr/>
        </p:nvSpPr>
        <p:spPr>
          <a:xfrm>
            <a:off x="548640" y="1371600"/>
            <a:ext cx="5120640" cy="1115568"/>
          </a:xfrm>
          <a:prstGeom prst="roundRect">
            <a:avLst>
              <a:gd name="adj" fmla="val 9836"/>
            </a:avLst>
          </a:prstGeom>
          <a:solidFill>
            <a:schemeClr val="bg2"/>
          </a:solidFill>
          <a:ln w="12700">
            <a:solidFill>
              <a:schemeClr val="bg2"/>
            </a:solidFill>
            <a:prstDash val="solid"/>
          </a:ln>
        </p:spPr>
      </p:sp>
      <p:sp>
        <p:nvSpPr>
          <p:cNvPr id="4" name="layer badge 1"/>
          <p:cNvSpPr/>
          <p:nvPr/>
        </p:nvSpPr>
        <p:spPr>
          <a:xfrm>
            <a:off x="713232" y="1563624"/>
            <a:ext cx="868680" cy="731520"/>
          </a:xfrm>
          <a:prstGeom prst="roundRect">
            <a:avLst>
              <a:gd name="adj" fmla="val 12500"/>
            </a:avLst>
          </a:prstGeom>
          <a:solidFill>
            <a:schemeClr val="accent1"/>
          </a:solidFill>
          <a:ln w="12700">
            <a:solidFill>
              <a:schemeClr val="accent1"/>
            </a:solidFill>
            <a:prstDash val="solid"/>
          </a:ln>
        </p:spPr>
      </p:sp>
      <p:sp>
        <p:nvSpPr>
          <p:cNvPr id="5" name="layer number 1"/>
          <p:cNvSpPr txBox="1"/>
          <p:nvPr/>
        </p:nvSpPr>
        <p:spPr>
          <a:xfrm>
            <a:off x="713232" y="1563624"/>
            <a:ext cx="868680" cy="731520"/>
          </a:xfrm>
          <a:prstGeom prst="rect">
            <a:avLst/>
          </a:prstGeom>
          <a:noFill/>
          <a:ln/>
        </p:spPr>
        <p:txBody>
          <a:bodyPr wrap="square" lIns="0" tIns="0" rIns="0" bIns="0" rtlCol="0" anchor="ctr"/>
          <a:lstStyle/>
          <a:p>
            <a:pPr algn="ctr" indent="0" marL="0">
              <a:buNone/>
            </a:pPr>
            <a:r>
              <a:rPr lang="en-US" sz="2200" b="1" dirty="0">
                <a:solidFill>
                  <a:schemeClr val="bg1"/>
                </a:solidFill>
              </a:rPr>
              <a:t>1–4</a:t>
            </a:r>
            <a:endParaRPr lang="en-US" sz="2200" dirty="0"/>
          </a:p>
        </p:txBody>
      </p:sp>
      <p:sp>
        <p:nvSpPr>
          <p:cNvPr id="6" name="layer text 1"/>
          <p:cNvSpPr txBox="1"/>
          <p:nvPr/>
        </p:nvSpPr>
        <p:spPr>
          <a:xfrm>
            <a:off x="1783080" y="1444752"/>
            <a:ext cx="3749040" cy="969264"/>
          </a:xfrm>
          <a:prstGeom prst="rect">
            <a:avLst/>
          </a:prstGeom>
          <a:noFill/>
          <a:ln/>
        </p:spPr>
        <p:txBody>
          <a:bodyPr wrap="square" lIns="0" tIns="0" rIns="0" bIns="0" rtlCol="0" anchor="ctr"/>
          <a:lstStyle/>
          <a:p>
            <a:pPr indent="0" marL="0">
              <a:buNone/>
            </a:pPr>
            <a:r>
              <a:rPr lang="en-US" sz="1600" b="1" dirty="0">
                <a:solidFill>
                  <a:schemeClr val="tx2"/>
                </a:solidFill>
              </a:rPr>
              <a:t>Text checks</a:t>
            </a:r>
            <a:endParaRPr lang="en-US" sz="1600" dirty="0"/>
          </a:p>
          <a:p>
            <a:pPr indent="0" marL="0">
              <a:buNone/>
            </a:pPr>
            <a:r>
              <a:rPr lang="en-US" sz="1400" dirty="0">
                <a:solidFill>
                  <a:schemeClr val="tx1">
                    <a:alpha val="80000"/>
                  </a:schemeClr>
                </a:solidFill>
              </a:rPr>
              <a:t>No comments or semicolons, starts with SELECT or WITH, no blocked words like DROP or INTO</a:t>
            </a:r>
            <a:endParaRPr lang="en-US" sz="1600" dirty="0"/>
          </a:p>
        </p:txBody>
      </p:sp>
      <p:sp>
        <p:nvSpPr>
          <p:cNvPr id="7" name="layer card 2"/>
          <p:cNvSpPr/>
          <p:nvPr/>
        </p:nvSpPr>
        <p:spPr>
          <a:xfrm>
            <a:off x="548640" y="2670048"/>
            <a:ext cx="5120640" cy="1115568"/>
          </a:xfrm>
          <a:prstGeom prst="roundRect">
            <a:avLst>
              <a:gd name="adj" fmla="val 9836"/>
            </a:avLst>
          </a:prstGeom>
          <a:solidFill>
            <a:schemeClr val="bg2"/>
          </a:solidFill>
          <a:ln w="12700">
            <a:solidFill>
              <a:schemeClr val="bg2"/>
            </a:solidFill>
            <a:prstDash val="solid"/>
          </a:ln>
        </p:spPr>
      </p:sp>
      <p:sp>
        <p:nvSpPr>
          <p:cNvPr id="8" name="layer badge 2"/>
          <p:cNvSpPr/>
          <p:nvPr/>
        </p:nvSpPr>
        <p:spPr>
          <a:xfrm>
            <a:off x="713232" y="2862072"/>
            <a:ext cx="868680" cy="731520"/>
          </a:xfrm>
          <a:prstGeom prst="roundRect">
            <a:avLst>
              <a:gd name="adj" fmla="val 12500"/>
            </a:avLst>
          </a:prstGeom>
          <a:solidFill>
            <a:schemeClr val="accent1"/>
          </a:solidFill>
          <a:ln w="12700">
            <a:solidFill>
              <a:schemeClr val="accent1"/>
            </a:solidFill>
            <a:prstDash val="solid"/>
          </a:ln>
        </p:spPr>
      </p:sp>
      <p:sp>
        <p:nvSpPr>
          <p:cNvPr id="9" name="layer number 2"/>
          <p:cNvSpPr txBox="1"/>
          <p:nvPr/>
        </p:nvSpPr>
        <p:spPr>
          <a:xfrm>
            <a:off x="713232" y="2862072"/>
            <a:ext cx="868680" cy="731520"/>
          </a:xfrm>
          <a:prstGeom prst="rect">
            <a:avLst/>
          </a:prstGeom>
          <a:noFill/>
          <a:ln/>
        </p:spPr>
        <p:txBody>
          <a:bodyPr wrap="square" lIns="0" tIns="0" rIns="0" bIns="0" rtlCol="0" anchor="ctr"/>
          <a:lstStyle/>
          <a:p>
            <a:pPr algn="ctr" indent="0" marL="0">
              <a:buNone/>
            </a:pPr>
            <a:r>
              <a:rPr lang="en-US" sz="2200" b="1" dirty="0">
                <a:solidFill>
                  <a:schemeClr val="bg1"/>
                </a:solidFill>
              </a:rPr>
              <a:t>5–8</a:t>
            </a:r>
            <a:endParaRPr lang="en-US" sz="2200" dirty="0"/>
          </a:p>
        </p:txBody>
      </p:sp>
      <p:sp>
        <p:nvSpPr>
          <p:cNvPr id="10" name="layer text 2"/>
          <p:cNvSpPr txBox="1"/>
          <p:nvPr/>
        </p:nvSpPr>
        <p:spPr>
          <a:xfrm>
            <a:off x="1783080" y="2743200"/>
            <a:ext cx="3749040" cy="969264"/>
          </a:xfrm>
          <a:prstGeom prst="rect">
            <a:avLst/>
          </a:prstGeom>
          <a:noFill/>
          <a:ln/>
        </p:spPr>
        <p:txBody>
          <a:bodyPr wrap="square" lIns="0" tIns="0" rIns="0" bIns="0" rtlCol="0" anchor="ctr"/>
          <a:lstStyle/>
          <a:p>
            <a:pPr indent="0" marL="0">
              <a:buNone/>
            </a:pPr>
            <a:r>
              <a:rPr lang="en-US" sz="1600" b="1" dirty="0">
                <a:solidFill>
                  <a:schemeClr val="tx2"/>
                </a:solidFill>
              </a:rPr>
              <a:t>Syntax-tree checks</a:t>
            </a:r>
            <a:endParaRPr lang="en-US" sz="1600" dirty="0"/>
          </a:p>
          <a:p>
            <a:pPr indent="0" marL="0">
              <a:buNone/>
            </a:pPr>
            <a:r>
              <a:rPr lang="en-US" sz="1400" dirty="0">
                <a:solidFill>
                  <a:schemeClr val="tx1">
                    <a:alpha val="80000"/>
                  </a:schemeClr>
                </a:solidFill>
              </a:rPr>
              <a:t>sqlglot parses it in the database's dialect: one statement, SELECT only, no write anywhere</a:t>
            </a:r>
            <a:endParaRPr lang="en-US" sz="1600" dirty="0"/>
          </a:p>
        </p:txBody>
      </p:sp>
      <p:sp>
        <p:nvSpPr>
          <p:cNvPr id="11" name="layer card 3"/>
          <p:cNvSpPr/>
          <p:nvPr/>
        </p:nvSpPr>
        <p:spPr>
          <a:xfrm>
            <a:off x="548640" y="3968496"/>
            <a:ext cx="5120640" cy="1115568"/>
          </a:xfrm>
          <a:prstGeom prst="roundRect">
            <a:avLst>
              <a:gd name="adj" fmla="val 9836"/>
            </a:avLst>
          </a:prstGeom>
          <a:solidFill>
            <a:schemeClr val="bg2"/>
          </a:solidFill>
          <a:ln w="12700">
            <a:solidFill>
              <a:schemeClr val="bg2"/>
            </a:solidFill>
            <a:prstDash val="solid"/>
          </a:ln>
        </p:spPr>
      </p:sp>
      <p:sp>
        <p:nvSpPr>
          <p:cNvPr id="12" name="layer badge 3"/>
          <p:cNvSpPr/>
          <p:nvPr/>
        </p:nvSpPr>
        <p:spPr>
          <a:xfrm>
            <a:off x="713232" y="4160520"/>
            <a:ext cx="868680" cy="731520"/>
          </a:xfrm>
          <a:prstGeom prst="roundRect">
            <a:avLst>
              <a:gd name="adj" fmla="val 12500"/>
            </a:avLst>
          </a:prstGeom>
          <a:solidFill>
            <a:schemeClr val="accent1"/>
          </a:solidFill>
          <a:ln w="12700">
            <a:solidFill>
              <a:schemeClr val="accent1"/>
            </a:solidFill>
            <a:prstDash val="solid"/>
          </a:ln>
        </p:spPr>
      </p:sp>
      <p:sp>
        <p:nvSpPr>
          <p:cNvPr id="13" name="layer number 3"/>
          <p:cNvSpPr txBox="1"/>
          <p:nvPr/>
        </p:nvSpPr>
        <p:spPr>
          <a:xfrm>
            <a:off x="713232" y="4160520"/>
            <a:ext cx="868680" cy="731520"/>
          </a:xfrm>
          <a:prstGeom prst="rect">
            <a:avLst/>
          </a:prstGeom>
          <a:noFill/>
          <a:ln/>
        </p:spPr>
        <p:txBody>
          <a:bodyPr wrap="square" lIns="0" tIns="0" rIns="0" bIns="0" rtlCol="0" anchor="ctr"/>
          <a:lstStyle/>
          <a:p>
            <a:pPr algn="ctr" indent="0" marL="0">
              <a:buNone/>
            </a:pPr>
            <a:r>
              <a:rPr lang="en-US" sz="2200" b="1" dirty="0">
                <a:solidFill>
                  <a:schemeClr val="bg1"/>
                </a:solidFill>
              </a:rPr>
              <a:t>9–11</a:t>
            </a:r>
            <a:endParaRPr lang="en-US" sz="2200" dirty="0"/>
          </a:p>
        </p:txBody>
      </p:sp>
      <p:sp>
        <p:nvSpPr>
          <p:cNvPr id="14" name="layer text 3"/>
          <p:cNvSpPr txBox="1"/>
          <p:nvPr/>
        </p:nvSpPr>
        <p:spPr>
          <a:xfrm>
            <a:off x="1783080" y="4041648"/>
            <a:ext cx="3749040" cy="969264"/>
          </a:xfrm>
          <a:prstGeom prst="rect">
            <a:avLst/>
          </a:prstGeom>
          <a:noFill/>
          <a:ln/>
        </p:spPr>
        <p:txBody>
          <a:bodyPr wrap="square" lIns="0" tIns="0" rIns="0" bIns="0" rtlCol="0" anchor="ctr"/>
          <a:lstStyle/>
          <a:p>
            <a:pPr indent="0" marL="0">
              <a:buNone/>
            </a:pPr>
            <a:r>
              <a:rPr lang="en-US" sz="1600" b="1" dirty="0">
                <a:solidFill>
                  <a:schemeClr val="tx2"/>
                </a:solidFill>
              </a:rPr>
              <a:t>Database rules</a:t>
            </a:r>
            <a:endParaRPr lang="en-US" sz="1600" dirty="0"/>
          </a:p>
          <a:p>
            <a:pPr indent="0" marL="0">
              <a:buNone/>
            </a:pPr>
            <a:r>
              <a:rPr lang="en-US" sz="1400" dirty="0">
                <a:solidFill>
                  <a:schemeClr val="tx1">
                    <a:alpha val="80000"/>
                  </a:schemeClr>
                </a:solidFill>
              </a:rPr>
              <a:t>No system tables, only this database's tables, and a row cap is always added</a:t>
            </a:r>
            <a:endParaRPr lang="en-US" sz="1600" dirty="0"/>
          </a:p>
        </p:txBody>
      </p:sp>
      <p:sp>
        <p:nvSpPr>
          <p:cNvPr id="15" name="run band"/>
          <p:cNvSpPr/>
          <p:nvPr/>
        </p:nvSpPr>
        <p:spPr>
          <a:xfrm>
            <a:off x="548640" y="5303520"/>
            <a:ext cx="5120640" cy="822960"/>
          </a:xfrm>
          <a:prstGeom prst="roundRect">
            <a:avLst>
              <a:gd name="adj" fmla="val 13333"/>
            </a:avLst>
          </a:prstGeom>
          <a:solidFill>
            <a:schemeClr val="tx2"/>
          </a:solidFill>
          <a:ln w="12700">
            <a:solidFill>
              <a:schemeClr val="tx2"/>
            </a:solidFill>
            <a:prstDash val="solid"/>
          </a:ln>
        </p:spPr>
      </p:sp>
      <p:sp>
        <p:nvSpPr>
          <p:cNvPr id="16" name="run band text"/>
          <p:cNvSpPr txBox="1"/>
          <p:nvPr/>
        </p:nvSpPr>
        <p:spPr>
          <a:xfrm>
            <a:off x="749808" y="5303520"/>
            <a:ext cx="4754880" cy="822960"/>
          </a:xfrm>
          <a:prstGeom prst="rect">
            <a:avLst/>
          </a:prstGeom>
          <a:noFill/>
          <a:ln/>
        </p:spPr>
        <p:txBody>
          <a:bodyPr wrap="square" lIns="0" tIns="0" rIns="0" bIns="0" rtlCol="0" anchor="ctr"/>
          <a:lstStyle/>
          <a:p>
            <a:pPr indent="0" marL="0">
              <a:buNone/>
            </a:pPr>
            <a:r>
              <a:rPr lang="en-US" sz="1400" b="1" dirty="0">
                <a:solidFill>
                  <a:schemeClr val="bg1"/>
                </a:solidFill>
              </a:rPr>
              <a:t>Then it runs read-only and is always rolled back. Admin data changes run only after a confirm click.</a:t>
            </a:r>
            <a:endParaRPr lang="en-US" sz="1400" dirty="0"/>
          </a:p>
        </p:txBody>
      </p:sp>
      <p:sp>
        <p:nvSpPr>
          <p:cNvPr id="17" name="blocked query frame"/>
          <p:cNvSpPr/>
          <p:nvPr/>
        </p:nvSpPr>
        <p:spPr>
          <a:xfrm>
            <a:off x="5971032" y="1371600"/>
            <a:ext cx="5669280" cy="2545690"/>
          </a:xfrm>
          <a:prstGeom prst="roundRect">
            <a:avLst>
              <a:gd name="adj" fmla="val 2874"/>
            </a:avLst>
          </a:prstGeom>
          <a:solidFill>
            <a:schemeClr val="bg2"/>
          </a:solidFill>
          <a:ln w="9525">
            <a:solidFill>
              <a:schemeClr val="accent5"/>
            </a:solidFill>
            <a:prstDash val="solid"/>
          </a:ln>
          <a:effectLst>
            <a:outerShdw sx="100000" sy="100000" kx="0" ky="0" algn="bl" rotWithShape="0" blurRad="127000" dist="38100" dir="5400000">
              <a:srgbClr val="0F172A">
                <a:alpha val="14000"/>
              </a:srgbClr>
            </a:outerShdw>
          </a:effectLst>
        </p:spPr>
      </p:sp>
      <p:sp>
        <p:nvSpPr>
          <p:cNvPr id="18" name="blocked query dot 1"/>
          <p:cNvSpPr/>
          <p:nvPr/>
        </p:nvSpPr>
        <p:spPr>
          <a:xfrm>
            <a:off x="6099048" y="1463040"/>
            <a:ext cx="91440" cy="91440"/>
          </a:xfrm>
          <a:prstGeom prst="ellipse">
            <a:avLst/>
          </a:prstGeom>
          <a:solidFill>
            <a:schemeClr val="accent6"/>
          </a:solidFill>
          <a:ln w="12700">
            <a:solidFill>
              <a:schemeClr val="accent6"/>
            </a:solidFill>
            <a:prstDash val="solid"/>
          </a:ln>
        </p:spPr>
      </p:sp>
      <p:sp>
        <p:nvSpPr>
          <p:cNvPr id="19" name="blocked query dot 2"/>
          <p:cNvSpPr/>
          <p:nvPr/>
        </p:nvSpPr>
        <p:spPr>
          <a:xfrm>
            <a:off x="6245352" y="1463040"/>
            <a:ext cx="91440" cy="91440"/>
          </a:xfrm>
          <a:prstGeom prst="ellipse">
            <a:avLst/>
          </a:prstGeom>
          <a:solidFill>
            <a:schemeClr val="accent3"/>
          </a:solidFill>
          <a:ln w="12700">
            <a:solidFill>
              <a:schemeClr val="accent3"/>
            </a:solidFill>
            <a:prstDash val="solid"/>
          </a:ln>
        </p:spPr>
      </p:sp>
      <p:sp>
        <p:nvSpPr>
          <p:cNvPr id="20" name="blocked query dot 3"/>
          <p:cNvSpPr/>
          <p:nvPr/>
        </p:nvSpPr>
        <p:spPr>
          <a:xfrm>
            <a:off x="6391656" y="1463040"/>
            <a:ext cx="91440" cy="91440"/>
          </a:xfrm>
          <a:prstGeom prst="ellipse">
            <a:avLst/>
          </a:prstGeom>
          <a:solidFill>
            <a:schemeClr val="accent1"/>
          </a:solidFill>
          <a:ln w="12700">
            <a:solidFill>
              <a:schemeClr val="accent1"/>
            </a:solidFill>
            <a:prstDash val="solid"/>
          </a:ln>
        </p:spPr>
      </p:sp>
      <p:sp>
        <p:nvSpPr>
          <p:cNvPr id="21" name="blocked query address"/>
          <p:cNvSpPr txBox="1"/>
          <p:nvPr/>
        </p:nvSpPr>
        <p:spPr>
          <a:xfrm>
            <a:off x="6611112" y="1399032"/>
            <a:ext cx="4389120" cy="219456"/>
          </a:xfrm>
          <a:prstGeom prst="rect">
            <a:avLst/>
          </a:prstGeom>
          <a:noFill/>
          <a:ln/>
        </p:spPr>
        <p:txBody>
          <a:bodyPr wrap="square" lIns="0" tIns="0" rIns="0" bIns="0" rtlCol="0" anchor="ctr"/>
          <a:lstStyle/>
          <a:p>
            <a:pPr algn="ctr" indent="0" marL="0">
              <a:buNone/>
            </a:pPr>
            <a:r>
              <a:rPr lang="en-US" sz="1000" dirty="0">
                <a:solidFill>
                  <a:schemeClr val="tx1">
                    <a:alpha val="60000"/>
                  </a:schemeClr>
                </a:solidFill>
              </a:rPr>
              <a:t>localhost:3000/dashboard/sql</a:t>
            </a:r>
            <a:endParaRPr lang="en-US" sz="1000" dirty="0"/>
          </a:p>
        </p:txBody>
      </p:sp>
      <p:pic>
        <p:nvPicPr>
          <p:cNvPr id="22" name="blocked query screenshot" descr="blocked query screenshot">    </p:cNvPr>
          <p:cNvPicPr>
            <a:picLocks noChangeAspect="1"/>
          </p:cNvPicPr>
          <p:nvPr/>
        </p:nvPicPr>
        <p:blipFill>
          <a:blip r:embed="rId1"/>
          <a:stretch>
            <a:fillRect/>
          </a:stretch>
        </p:blipFill>
        <p:spPr>
          <a:xfrm>
            <a:off x="5989320" y="1645920"/>
            <a:ext cx="5632704" cy="2253082"/>
          </a:xfrm>
          <a:prstGeom prst="rect">
            <a:avLst/>
          </a:prstGeom>
        </p:spPr>
      </p:pic>
      <p:sp>
        <p:nvSpPr>
          <p:cNvPr id="23" name="blocked caption"/>
          <p:cNvSpPr txBox="1"/>
          <p:nvPr/>
        </p:nvSpPr>
        <p:spPr>
          <a:xfrm>
            <a:off x="5971032" y="4027018"/>
            <a:ext cx="5669280" cy="320040"/>
          </a:xfrm>
          <a:prstGeom prst="rect">
            <a:avLst/>
          </a:prstGeom>
          <a:noFill/>
          <a:ln/>
        </p:spPr>
        <p:txBody>
          <a:bodyPr wrap="square" lIns="0" tIns="0" rIns="0" bIns="0" rtlCol="0" anchor="ctr"/>
          <a:lstStyle/>
          <a:p>
            <a:pPr indent="0" marL="0">
              <a:buNone/>
            </a:pPr>
            <a:r>
              <a:rPr lang="en-US" sz="1200" dirty="0">
                <a:solidFill>
                  <a:schemeClr val="tx1">
                    <a:alpha val="75000"/>
                  </a:schemeClr>
                </a:solidFill>
              </a:rPr>
              <a:t>Typed into the SQL console, a DELETE is refused before it ever reaches MySQL.</a:t>
            </a:r>
            <a:endParaRPr lang="en-US" sz="1200" dirty="0"/>
          </a:p>
        </p:txBody>
      </p:sp>
      <p:sp>
        <p:nvSpPr>
          <p:cNvPr id="24" name="limit tile 1"/>
          <p:cNvSpPr/>
          <p:nvPr/>
        </p:nvSpPr>
        <p:spPr>
          <a:xfrm>
            <a:off x="5971032" y="4754880"/>
            <a:ext cx="1761134" cy="1371600"/>
          </a:xfrm>
          <a:prstGeom prst="roundRect">
            <a:avLst>
              <a:gd name="adj" fmla="val 8000"/>
            </a:avLst>
          </a:prstGeom>
          <a:solidFill>
            <a:schemeClr val="bg1"/>
          </a:solidFill>
          <a:ln w="12700">
            <a:solidFill>
              <a:schemeClr val="accent5"/>
            </a:solidFill>
            <a:prstDash val="solid"/>
          </a:ln>
        </p:spPr>
      </p:sp>
      <p:sp>
        <p:nvSpPr>
          <p:cNvPr id="25" name="limit text 1"/>
          <p:cNvSpPr txBox="1"/>
          <p:nvPr/>
        </p:nvSpPr>
        <p:spPr>
          <a:xfrm>
            <a:off x="6062472" y="4754880"/>
            <a:ext cx="1578254" cy="1371600"/>
          </a:xfrm>
          <a:prstGeom prst="rect">
            <a:avLst/>
          </a:prstGeom>
          <a:noFill/>
          <a:ln/>
        </p:spPr>
        <p:txBody>
          <a:bodyPr wrap="square" lIns="0" tIns="0" rIns="0" bIns="0" rtlCol="0" anchor="ctr"/>
          <a:lstStyle/>
          <a:p>
            <a:pPr algn="ctr" indent="0" marL="0">
              <a:buNone/>
            </a:pPr>
            <a:r>
              <a:rPr lang="en-US" sz="3200" b="1" dirty="0">
                <a:solidFill>
                  <a:schemeClr val="accent2"/>
                </a:solidFill>
              </a:rPr>
              <a:t>10,000</a:t>
            </a:r>
            <a:endParaRPr lang="en-US" sz="3200" dirty="0"/>
          </a:p>
          <a:p>
            <a:pPr algn="ctr" indent="0" marL="0">
              <a:buNone/>
            </a:pPr>
            <a:r>
              <a:rPr lang="en-US" sz="1200" dirty="0">
                <a:solidFill>
                  <a:schemeClr val="tx1">
                    <a:alpha val="75000"/>
                  </a:schemeClr>
                </a:solidFill>
              </a:rPr>
              <a:t>max rows returned</a:t>
            </a:r>
            <a:endParaRPr lang="en-US" sz="3200" dirty="0"/>
          </a:p>
        </p:txBody>
      </p:sp>
      <p:sp>
        <p:nvSpPr>
          <p:cNvPr id="26" name="limit tile 2"/>
          <p:cNvSpPr/>
          <p:nvPr/>
        </p:nvSpPr>
        <p:spPr>
          <a:xfrm>
            <a:off x="7925105" y="4754880"/>
            <a:ext cx="1761134" cy="1371600"/>
          </a:xfrm>
          <a:prstGeom prst="roundRect">
            <a:avLst>
              <a:gd name="adj" fmla="val 8000"/>
            </a:avLst>
          </a:prstGeom>
          <a:solidFill>
            <a:schemeClr val="bg1"/>
          </a:solidFill>
          <a:ln w="12700">
            <a:solidFill>
              <a:schemeClr val="accent5"/>
            </a:solidFill>
            <a:prstDash val="solid"/>
          </a:ln>
        </p:spPr>
      </p:sp>
      <p:sp>
        <p:nvSpPr>
          <p:cNvPr id="27" name="limit text 2"/>
          <p:cNvSpPr txBox="1"/>
          <p:nvPr/>
        </p:nvSpPr>
        <p:spPr>
          <a:xfrm>
            <a:off x="8016545" y="4754880"/>
            <a:ext cx="1578254" cy="1371600"/>
          </a:xfrm>
          <a:prstGeom prst="rect">
            <a:avLst/>
          </a:prstGeom>
          <a:noFill/>
          <a:ln/>
        </p:spPr>
        <p:txBody>
          <a:bodyPr wrap="square" lIns="0" tIns="0" rIns="0" bIns="0" rtlCol="0" anchor="ctr"/>
          <a:lstStyle/>
          <a:p>
            <a:pPr algn="ctr" indent="0" marL="0">
              <a:buNone/>
            </a:pPr>
            <a:r>
              <a:rPr lang="en-US" sz="3200" b="1" dirty="0">
                <a:solidFill>
                  <a:schemeClr val="accent2"/>
                </a:solidFill>
              </a:rPr>
              <a:t>5–30 s</a:t>
            </a:r>
            <a:endParaRPr lang="en-US" sz="3200" dirty="0"/>
          </a:p>
          <a:p>
            <a:pPr algn="ctr" indent="0" marL="0">
              <a:buNone/>
            </a:pPr>
            <a:r>
              <a:rPr lang="en-US" sz="1200" dirty="0">
                <a:solidFill>
                  <a:schemeClr val="tx1">
                    <a:alpha val="75000"/>
                  </a:schemeClr>
                </a:solidFill>
              </a:rPr>
              <a:t>statement timeout</a:t>
            </a:r>
            <a:endParaRPr lang="en-US" sz="3200" dirty="0"/>
          </a:p>
        </p:txBody>
      </p:sp>
      <p:sp>
        <p:nvSpPr>
          <p:cNvPr id="28" name="limit tile 3"/>
          <p:cNvSpPr/>
          <p:nvPr/>
        </p:nvSpPr>
        <p:spPr>
          <a:xfrm>
            <a:off x="9879178" y="4754880"/>
            <a:ext cx="1761134" cy="1371600"/>
          </a:xfrm>
          <a:prstGeom prst="roundRect">
            <a:avLst>
              <a:gd name="adj" fmla="val 8000"/>
            </a:avLst>
          </a:prstGeom>
          <a:solidFill>
            <a:schemeClr val="bg1"/>
          </a:solidFill>
          <a:ln w="12700">
            <a:solidFill>
              <a:schemeClr val="accent5"/>
            </a:solidFill>
            <a:prstDash val="solid"/>
          </a:ln>
        </p:spPr>
      </p:sp>
      <p:sp>
        <p:nvSpPr>
          <p:cNvPr id="29" name="limit text 3"/>
          <p:cNvSpPr txBox="1"/>
          <p:nvPr/>
        </p:nvSpPr>
        <p:spPr>
          <a:xfrm>
            <a:off x="9970618" y="4754880"/>
            <a:ext cx="1578254" cy="1371600"/>
          </a:xfrm>
          <a:prstGeom prst="rect">
            <a:avLst/>
          </a:prstGeom>
          <a:noFill/>
          <a:ln/>
        </p:spPr>
        <p:txBody>
          <a:bodyPr wrap="square" lIns="0" tIns="0" rIns="0" bIns="0" rtlCol="0" anchor="ctr"/>
          <a:lstStyle/>
          <a:p>
            <a:pPr algn="ctr" indent="0" marL="0">
              <a:buNone/>
            </a:pPr>
            <a:r>
              <a:rPr lang="en-US" sz="3200" b="1" dirty="0">
                <a:solidFill>
                  <a:schemeClr val="accent2"/>
                </a:solidFill>
              </a:rPr>
              <a:t>1</a:t>
            </a:r>
            <a:endParaRPr lang="en-US" sz="3200" dirty="0"/>
          </a:p>
          <a:p>
            <a:pPr algn="ctr" indent="0" marL="0">
              <a:buNone/>
            </a:pPr>
            <a:r>
              <a:rPr lang="en-US" sz="1200" dirty="0">
                <a:solidFill>
                  <a:schemeClr val="tx1">
                    <a:alpha val="75000"/>
                  </a:schemeClr>
                </a:solidFill>
              </a:rPr>
              <a:t>statement per query</a:t>
            </a:r>
            <a:endParaRPr lang="en-US" sz="3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See how tables connect — and how joins work</a:t>
            </a:r>
            <a:endParaRPr lang="en-US" sz="3600" dirty="0"/>
          </a:p>
        </p:txBody>
      </p:sp>
      <p:sp>
        <p:nvSpPr>
          <p:cNvPr id="3" name="schema diagram frame"/>
          <p:cNvSpPr/>
          <p:nvPr/>
        </p:nvSpPr>
        <p:spPr>
          <a:xfrm>
            <a:off x="763654" y="1371600"/>
            <a:ext cx="5332781" cy="3602736"/>
          </a:xfrm>
          <a:prstGeom prst="roundRect">
            <a:avLst>
              <a:gd name="adj" fmla="val 2030"/>
            </a:avLst>
          </a:prstGeom>
          <a:solidFill>
            <a:schemeClr val="bg2"/>
          </a:solidFill>
          <a:ln w="9525">
            <a:solidFill>
              <a:schemeClr val="accent5"/>
            </a:solidFill>
            <a:prstDash val="solid"/>
          </a:ln>
          <a:effectLst>
            <a:outerShdw sx="100000" sy="100000" kx="0" ky="0" algn="bl" rotWithShape="0" blurRad="127000" dist="38100" dir="5400000">
              <a:srgbClr val="0F172A">
                <a:alpha val="14000"/>
              </a:srgbClr>
            </a:outerShdw>
          </a:effectLst>
        </p:spPr>
      </p:sp>
      <p:sp>
        <p:nvSpPr>
          <p:cNvPr id="4" name="schema diagram dot 1"/>
          <p:cNvSpPr/>
          <p:nvPr/>
        </p:nvSpPr>
        <p:spPr>
          <a:xfrm>
            <a:off x="891670" y="1463040"/>
            <a:ext cx="91440" cy="91440"/>
          </a:xfrm>
          <a:prstGeom prst="ellipse">
            <a:avLst/>
          </a:prstGeom>
          <a:solidFill>
            <a:schemeClr val="accent6"/>
          </a:solidFill>
          <a:ln w="12700">
            <a:solidFill>
              <a:schemeClr val="accent6"/>
            </a:solidFill>
            <a:prstDash val="solid"/>
          </a:ln>
        </p:spPr>
      </p:sp>
      <p:sp>
        <p:nvSpPr>
          <p:cNvPr id="5" name="schema diagram dot 2"/>
          <p:cNvSpPr/>
          <p:nvPr/>
        </p:nvSpPr>
        <p:spPr>
          <a:xfrm>
            <a:off x="1037974" y="1463040"/>
            <a:ext cx="91440" cy="91440"/>
          </a:xfrm>
          <a:prstGeom prst="ellipse">
            <a:avLst/>
          </a:prstGeom>
          <a:solidFill>
            <a:schemeClr val="accent3"/>
          </a:solidFill>
          <a:ln w="12700">
            <a:solidFill>
              <a:schemeClr val="accent3"/>
            </a:solidFill>
            <a:prstDash val="solid"/>
          </a:ln>
        </p:spPr>
      </p:sp>
      <p:sp>
        <p:nvSpPr>
          <p:cNvPr id="6" name="schema diagram dot 3"/>
          <p:cNvSpPr/>
          <p:nvPr/>
        </p:nvSpPr>
        <p:spPr>
          <a:xfrm>
            <a:off x="1184278" y="1463040"/>
            <a:ext cx="91440" cy="91440"/>
          </a:xfrm>
          <a:prstGeom prst="ellipse">
            <a:avLst/>
          </a:prstGeom>
          <a:solidFill>
            <a:schemeClr val="accent1"/>
          </a:solidFill>
          <a:ln w="12700">
            <a:solidFill>
              <a:schemeClr val="accent1"/>
            </a:solidFill>
            <a:prstDash val="solid"/>
          </a:ln>
        </p:spPr>
      </p:sp>
      <p:sp>
        <p:nvSpPr>
          <p:cNvPr id="7" name="schema diagram address"/>
          <p:cNvSpPr txBox="1"/>
          <p:nvPr/>
        </p:nvSpPr>
        <p:spPr>
          <a:xfrm>
            <a:off x="1403734" y="1399032"/>
            <a:ext cx="4052621" cy="219456"/>
          </a:xfrm>
          <a:prstGeom prst="rect">
            <a:avLst/>
          </a:prstGeom>
          <a:noFill/>
          <a:ln/>
        </p:spPr>
        <p:txBody>
          <a:bodyPr wrap="square" lIns="0" tIns="0" rIns="0" bIns="0" rtlCol="0" anchor="ctr"/>
          <a:lstStyle/>
          <a:p>
            <a:pPr algn="ctr" indent="0" marL="0">
              <a:buNone/>
            </a:pPr>
            <a:r>
              <a:rPr lang="en-US" sz="1000" dirty="0">
                <a:solidFill>
                  <a:schemeClr val="tx1">
                    <a:alpha val="60000"/>
                  </a:schemeClr>
                </a:solidFill>
              </a:rPr>
              <a:t>Schema diagram</a:t>
            </a:r>
            <a:endParaRPr lang="en-US" sz="1000" dirty="0"/>
          </a:p>
        </p:txBody>
      </p:sp>
      <p:pic>
        <p:nvPicPr>
          <p:cNvPr id="8" name="schema diagram screenshot" descr="schema diagram screenshot">    </p:cNvPr>
          <p:cNvPicPr>
            <a:picLocks noChangeAspect="1"/>
          </p:cNvPicPr>
          <p:nvPr/>
        </p:nvPicPr>
        <p:blipFill>
          <a:blip r:embed="rId1"/>
          <a:stretch>
            <a:fillRect/>
          </a:stretch>
        </p:blipFill>
        <p:spPr>
          <a:xfrm>
            <a:off x="781942" y="1645920"/>
            <a:ext cx="5296205" cy="3310128"/>
          </a:xfrm>
          <a:prstGeom prst="rect">
            <a:avLst/>
          </a:prstGeom>
        </p:spPr>
      </p:pic>
      <p:sp>
        <p:nvSpPr>
          <p:cNvPr id="9" name="joins view frame"/>
          <p:cNvSpPr/>
          <p:nvPr/>
        </p:nvSpPr>
        <p:spPr>
          <a:xfrm>
            <a:off x="6553635" y="1371600"/>
            <a:ext cx="4871662" cy="3602736"/>
          </a:xfrm>
          <a:prstGeom prst="roundRect">
            <a:avLst>
              <a:gd name="adj" fmla="val 2030"/>
            </a:avLst>
          </a:prstGeom>
          <a:solidFill>
            <a:schemeClr val="bg2"/>
          </a:solidFill>
          <a:ln w="9525">
            <a:solidFill>
              <a:schemeClr val="accent5"/>
            </a:solidFill>
            <a:prstDash val="solid"/>
          </a:ln>
          <a:effectLst>
            <a:outerShdw sx="100000" sy="100000" kx="0" ky="0" algn="bl" rotWithShape="0" blurRad="127000" dist="38100" dir="5400000">
              <a:srgbClr val="0F172A">
                <a:alpha val="14000"/>
              </a:srgbClr>
            </a:outerShdw>
          </a:effectLst>
        </p:spPr>
      </p:sp>
      <p:sp>
        <p:nvSpPr>
          <p:cNvPr id="10" name="joins view dot 1"/>
          <p:cNvSpPr/>
          <p:nvPr/>
        </p:nvSpPr>
        <p:spPr>
          <a:xfrm>
            <a:off x="6681651" y="1463040"/>
            <a:ext cx="91440" cy="91440"/>
          </a:xfrm>
          <a:prstGeom prst="ellipse">
            <a:avLst/>
          </a:prstGeom>
          <a:solidFill>
            <a:schemeClr val="accent6"/>
          </a:solidFill>
          <a:ln w="12700">
            <a:solidFill>
              <a:schemeClr val="accent6"/>
            </a:solidFill>
            <a:prstDash val="solid"/>
          </a:ln>
        </p:spPr>
      </p:sp>
      <p:sp>
        <p:nvSpPr>
          <p:cNvPr id="11" name="joins view dot 2"/>
          <p:cNvSpPr/>
          <p:nvPr/>
        </p:nvSpPr>
        <p:spPr>
          <a:xfrm>
            <a:off x="6827955" y="1463040"/>
            <a:ext cx="91440" cy="91440"/>
          </a:xfrm>
          <a:prstGeom prst="ellipse">
            <a:avLst/>
          </a:prstGeom>
          <a:solidFill>
            <a:schemeClr val="accent3"/>
          </a:solidFill>
          <a:ln w="12700">
            <a:solidFill>
              <a:schemeClr val="accent3"/>
            </a:solidFill>
            <a:prstDash val="solid"/>
          </a:ln>
        </p:spPr>
      </p:sp>
      <p:sp>
        <p:nvSpPr>
          <p:cNvPr id="12" name="joins view dot 3"/>
          <p:cNvSpPr/>
          <p:nvPr/>
        </p:nvSpPr>
        <p:spPr>
          <a:xfrm>
            <a:off x="6974259" y="1463040"/>
            <a:ext cx="91440" cy="91440"/>
          </a:xfrm>
          <a:prstGeom prst="ellipse">
            <a:avLst/>
          </a:prstGeom>
          <a:solidFill>
            <a:schemeClr val="accent1"/>
          </a:solidFill>
          <a:ln w="12700">
            <a:solidFill>
              <a:schemeClr val="accent1"/>
            </a:solidFill>
            <a:prstDash val="solid"/>
          </a:ln>
        </p:spPr>
      </p:sp>
      <p:sp>
        <p:nvSpPr>
          <p:cNvPr id="13" name="joins view address"/>
          <p:cNvSpPr txBox="1"/>
          <p:nvPr/>
        </p:nvSpPr>
        <p:spPr>
          <a:xfrm>
            <a:off x="7193715" y="1399032"/>
            <a:ext cx="3591502" cy="219456"/>
          </a:xfrm>
          <a:prstGeom prst="rect">
            <a:avLst/>
          </a:prstGeom>
          <a:noFill/>
          <a:ln/>
        </p:spPr>
        <p:txBody>
          <a:bodyPr wrap="square" lIns="0" tIns="0" rIns="0" bIns="0" rtlCol="0" anchor="ctr"/>
          <a:lstStyle/>
          <a:p>
            <a:pPr algn="ctr" indent="0" marL="0">
              <a:buNone/>
            </a:pPr>
            <a:r>
              <a:rPr lang="en-US" sz="1000" dirty="0">
                <a:solidFill>
                  <a:schemeClr val="tx1">
                    <a:alpha val="60000"/>
                  </a:schemeClr>
                </a:solidFill>
              </a:rPr>
              <a:t>Answer · Joins tab</a:t>
            </a:r>
            <a:endParaRPr lang="en-US" sz="1000" dirty="0"/>
          </a:p>
        </p:txBody>
      </p:sp>
      <p:pic>
        <p:nvPicPr>
          <p:cNvPr id="14" name="joins view screenshot" descr="joins view screenshot">    </p:cNvPr>
          <p:cNvPicPr>
            <a:picLocks noChangeAspect="1"/>
          </p:cNvPicPr>
          <p:nvPr/>
        </p:nvPicPr>
        <p:blipFill>
          <a:blip r:embed="rId2"/>
          <a:stretch>
            <a:fillRect/>
          </a:stretch>
        </p:blipFill>
        <p:spPr>
          <a:xfrm>
            <a:off x="6571923" y="1645920"/>
            <a:ext cx="4835086" cy="3310128"/>
          </a:xfrm>
          <a:prstGeom prst="rect">
            <a:avLst/>
          </a:prstGeom>
        </p:spPr>
      </p:pic>
      <p:sp>
        <p:nvSpPr>
          <p:cNvPr id="15" name="diagram caption"/>
          <p:cNvSpPr txBox="1"/>
          <p:nvPr/>
        </p:nvSpPr>
        <p:spPr>
          <a:xfrm>
            <a:off x="763654" y="5248656"/>
            <a:ext cx="5332781" cy="868680"/>
          </a:xfrm>
          <a:prstGeom prst="rect">
            <a:avLst/>
          </a:prstGeom>
          <a:noFill/>
          <a:ln/>
        </p:spPr>
        <p:txBody>
          <a:bodyPr wrap="square" lIns="0" tIns="0" rIns="0" bIns="0" rtlCol="0" anchor="t"/>
          <a:lstStyle/>
          <a:p>
            <a:pPr indent="0" marL="0">
              <a:buNone/>
            </a:pPr>
            <a:r>
              <a:rPr lang="en-US" sz="1600" b="1" dirty="0">
                <a:solidFill>
                  <a:schemeClr val="tx2"/>
                </a:solidFill>
              </a:rPr>
              <a:t>Interactive schema diagram</a:t>
            </a:r>
            <a:endParaRPr lang="en-US" sz="1600" dirty="0"/>
          </a:p>
          <a:p>
            <a:pPr indent="0" marL="0">
              <a:buNone/>
            </a:pPr>
            <a:r>
              <a:rPr lang="en-US" sz="1400" dirty="0">
                <a:solidFill>
                  <a:schemeClr val="tx1">
                    <a:alpha val="80000"/>
                  </a:schemeClr>
                </a:solidFill>
              </a:rPr>
              <a:t>Every table, key and foreign-key link. Drag, zoom, and click a table to trace what it connects to.</a:t>
            </a:r>
            <a:endParaRPr lang="en-US" sz="1600" dirty="0"/>
          </a:p>
        </p:txBody>
      </p:sp>
      <p:sp>
        <p:nvSpPr>
          <p:cNvPr id="16" name="joins caption"/>
          <p:cNvSpPr txBox="1"/>
          <p:nvPr/>
        </p:nvSpPr>
        <p:spPr>
          <a:xfrm>
            <a:off x="6553635" y="5248656"/>
            <a:ext cx="4871662" cy="868680"/>
          </a:xfrm>
          <a:prstGeom prst="rect">
            <a:avLst/>
          </a:prstGeom>
          <a:noFill/>
          <a:ln/>
        </p:spPr>
        <p:txBody>
          <a:bodyPr wrap="square" lIns="0" tIns="0" rIns="0" bIns="0" rtlCol="0" anchor="t"/>
          <a:lstStyle/>
          <a:p>
            <a:pPr indent="0" marL="0">
              <a:buNone/>
            </a:pPr>
            <a:r>
              <a:rPr lang="en-US" sz="1600" b="1" dirty="0">
                <a:solidFill>
                  <a:schemeClr val="tx2"/>
                </a:solidFill>
              </a:rPr>
              <a:t>Joins drawn as circles</a:t>
            </a:r>
            <a:endParaRPr lang="en-US" sz="1600" dirty="0"/>
          </a:p>
          <a:p>
            <a:pPr indent="0" marL="0">
              <a:buNone/>
            </a:pPr>
            <a:r>
              <a:rPr lang="en-US" sz="1400" dirty="0">
                <a:solidFill>
                  <a:schemeClr val="tx1">
                    <a:alpha val="80000"/>
                  </a:schemeClr>
                </a:solidFill>
              </a:rPr>
              <a:t>The dark middle is the matching rows. A sentence explains the join in plain words.</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Admins stay in control, with every action logged</a:t>
            </a:r>
            <a:endParaRPr lang="en-US" sz="3600" dirty="0"/>
          </a:p>
        </p:txBody>
      </p:sp>
      <p:sp>
        <p:nvSpPr>
          <p:cNvPr id="3" name="admin panel frame"/>
          <p:cNvSpPr/>
          <p:nvPr/>
        </p:nvSpPr>
        <p:spPr>
          <a:xfrm>
            <a:off x="548640" y="1371600"/>
            <a:ext cx="5394960" cy="2275210"/>
          </a:xfrm>
          <a:prstGeom prst="roundRect">
            <a:avLst>
              <a:gd name="adj" fmla="val 3215"/>
            </a:avLst>
          </a:prstGeom>
          <a:solidFill>
            <a:schemeClr val="bg2"/>
          </a:solidFill>
          <a:ln w="9525">
            <a:solidFill>
              <a:schemeClr val="accent5"/>
            </a:solidFill>
            <a:prstDash val="solid"/>
          </a:ln>
          <a:effectLst>
            <a:outerShdw sx="100000" sy="100000" kx="0" ky="0" algn="bl" rotWithShape="0" blurRad="127000" dist="38100" dir="5400000">
              <a:srgbClr val="0F172A">
                <a:alpha val="14000"/>
              </a:srgbClr>
            </a:outerShdw>
          </a:effectLst>
        </p:spPr>
      </p:sp>
      <p:sp>
        <p:nvSpPr>
          <p:cNvPr id="4" name="admin panel dot 1"/>
          <p:cNvSpPr/>
          <p:nvPr/>
        </p:nvSpPr>
        <p:spPr>
          <a:xfrm>
            <a:off x="676656" y="1463040"/>
            <a:ext cx="91440" cy="91440"/>
          </a:xfrm>
          <a:prstGeom prst="ellipse">
            <a:avLst/>
          </a:prstGeom>
          <a:solidFill>
            <a:schemeClr val="accent6"/>
          </a:solidFill>
          <a:ln w="12700">
            <a:solidFill>
              <a:schemeClr val="accent6"/>
            </a:solidFill>
            <a:prstDash val="solid"/>
          </a:ln>
        </p:spPr>
      </p:sp>
      <p:sp>
        <p:nvSpPr>
          <p:cNvPr id="5" name="admin panel dot 2"/>
          <p:cNvSpPr/>
          <p:nvPr/>
        </p:nvSpPr>
        <p:spPr>
          <a:xfrm>
            <a:off x="822960" y="1463040"/>
            <a:ext cx="91440" cy="91440"/>
          </a:xfrm>
          <a:prstGeom prst="ellipse">
            <a:avLst/>
          </a:prstGeom>
          <a:solidFill>
            <a:schemeClr val="accent3"/>
          </a:solidFill>
          <a:ln w="12700">
            <a:solidFill>
              <a:schemeClr val="accent3"/>
            </a:solidFill>
            <a:prstDash val="solid"/>
          </a:ln>
        </p:spPr>
      </p:sp>
      <p:sp>
        <p:nvSpPr>
          <p:cNvPr id="6" name="admin panel dot 3"/>
          <p:cNvSpPr/>
          <p:nvPr/>
        </p:nvSpPr>
        <p:spPr>
          <a:xfrm>
            <a:off x="969264" y="1463040"/>
            <a:ext cx="91440" cy="91440"/>
          </a:xfrm>
          <a:prstGeom prst="ellipse">
            <a:avLst/>
          </a:prstGeom>
          <a:solidFill>
            <a:schemeClr val="accent1"/>
          </a:solidFill>
          <a:ln w="12700">
            <a:solidFill>
              <a:schemeClr val="accent1"/>
            </a:solidFill>
            <a:prstDash val="solid"/>
          </a:ln>
        </p:spPr>
      </p:sp>
      <p:sp>
        <p:nvSpPr>
          <p:cNvPr id="7" name="admin panel address"/>
          <p:cNvSpPr txBox="1"/>
          <p:nvPr/>
        </p:nvSpPr>
        <p:spPr>
          <a:xfrm>
            <a:off x="1188720" y="1399032"/>
            <a:ext cx="4114800" cy="219456"/>
          </a:xfrm>
          <a:prstGeom prst="rect">
            <a:avLst/>
          </a:prstGeom>
          <a:noFill/>
          <a:ln/>
        </p:spPr>
        <p:txBody>
          <a:bodyPr wrap="square" lIns="0" tIns="0" rIns="0" bIns="0" rtlCol="0" anchor="ctr"/>
          <a:lstStyle/>
          <a:p>
            <a:pPr algn="ctr" indent="0" marL="0">
              <a:buNone/>
            </a:pPr>
            <a:r>
              <a:rPr lang="en-US" sz="1000" dirty="0">
                <a:solidFill>
                  <a:schemeClr val="tx1">
                    <a:alpha val="60000"/>
                  </a:schemeClr>
                </a:solidFill>
              </a:rPr>
              <a:t>localhost:3000/admin</a:t>
            </a:r>
            <a:endParaRPr lang="en-US" sz="1000" dirty="0"/>
          </a:p>
        </p:txBody>
      </p:sp>
      <p:pic>
        <p:nvPicPr>
          <p:cNvPr id="8" name="admin panel screenshot" descr="admin panel screenshot">    </p:cNvPr>
          <p:cNvPicPr>
            <a:picLocks noChangeAspect="1"/>
          </p:cNvPicPr>
          <p:nvPr/>
        </p:nvPicPr>
        <p:blipFill>
          <a:blip r:embed="rId1"/>
          <a:stretch>
            <a:fillRect/>
          </a:stretch>
        </p:blipFill>
        <p:spPr>
          <a:xfrm>
            <a:off x="566928" y="1645920"/>
            <a:ext cx="5358384" cy="1982602"/>
          </a:xfrm>
          <a:prstGeom prst="rect">
            <a:avLst/>
          </a:prstGeom>
        </p:spPr>
      </p:pic>
      <p:sp>
        <p:nvSpPr>
          <p:cNvPr id="9" name="sql console frame"/>
          <p:cNvSpPr/>
          <p:nvPr/>
        </p:nvSpPr>
        <p:spPr>
          <a:xfrm>
            <a:off x="1600200" y="3246120"/>
            <a:ext cx="4572000" cy="3047878"/>
          </a:xfrm>
          <a:prstGeom prst="roundRect">
            <a:avLst>
              <a:gd name="adj" fmla="val 2400"/>
            </a:avLst>
          </a:prstGeom>
          <a:solidFill>
            <a:schemeClr val="bg2"/>
          </a:solidFill>
          <a:ln w="9525">
            <a:solidFill>
              <a:schemeClr val="accent5"/>
            </a:solidFill>
            <a:prstDash val="solid"/>
          </a:ln>
          <a:effectLst>
            <a:outerShdw sx="100000" sy="100000" kx="0" ky="0" algn="bl" rotWithShape="0" blurRad="127000" dist="38100" dir="5400000">
              <a:srgbClr val="0F172A">
                <a:alpha val="14000"/>
              </a:srgbClr>
            </a:outerShdw>
          </a:effectLst>
        </p:spPr>
      </p:sp>
      <p:sp>
        <p:nvSpPr>
          <p:cNvPr id="10" name="sql console dot 1"/>
          <p:cNvSpPr/>
          <p:nvPr/>
        </p:nvSpPr>
        <p:spPr>
          <a:xfrm>
            <a:off x="1728216" y="3337560"/>
            <a:ext cx="91440" cy="91440"/>
          </a:xfrm>
          <a:prstGeom prst="ellipse">
            <a:avLst/>
          </a:prstGeom>
          <a:solidFill>
            <a:schemeClr val="accent6"/>
          </a:solidFill>
          <a:ln w="12700">
            <a:solidFill>
              <a:schemeClr val="accent6"/>
            </a:solidFill>
            <a:prstDash val="solid"/>
          </a:ln>
        </p:spPr>
      </p:sp>
      <p:sp>
        <p:nvSpPr>
          <p:cNvPr id="11" name="sql console dot 2"/>
          <p:cNvSpPr/>
          <p:nvPr/>
        </p:nvSpPr>
        <p:spPr>
          <a:xfrm>
            <a:off x="1874520" y="3337560"/>
            <a:ext cx="91440" cy="91440"/>
          </a:xfrm>
          <a:prstGeom prst="ellipse">
            <a:avLst/>
          </a:prstGeom>
          <a:solidFill>
            <a:schemeClr val="accent3"/>
          </a:solidFill>
          <a:ln w="12700">
            <a:solidFill>
              <a:schemeClr val="accent3"/>
            </a:solidFill>
            <a:prstDash val="solid"/>
          </a:ln>
        </p:spPr>
      </p:sp>
      <p:sp>
        <p:nvSpPr>
          <p:cNvPr id="12" name="sql console dot 3"/>
          <p:cNvSpPr/>
          <p:nvPr/>
        </p:nvSpPr>
        <p:spPr>
          <a:xfrm>
            <a:off x="2020824" y="3337560"/>
            <a:ext cx="91440" cy="91440"/>
          </a:xfrm>
          <a:prstGeom prst="ellipse">
            <a:avLst/>
          </a:prstGeom>
          <a:solidFill>
            <a:schemeClr val="accent1"/>
          </a:solidFill>
          <a:ln w="12700">
            <a:solidFill>
              <a:schemeClr val="accent1"/>
            </a:solidFill>
            <a:prstDash val="solid"/>
          </a:ln>
        </p:spPr>
      </p:sp>
      <p:sp>
        <p:nvSpPr>
          <p:cNvPr id="13" name="sql console address"/>
          <p:cNvSpPr txBox="1"/>
          <p:nvPr/>
        </p:nvSpPr>
        <p:spPr>
          <a:xfrm>
            <a:off x="2240280" y="3273552"/>
            <a:ext cx="3291840" cy="219456"/>
          </a:xfrm>
          <a:prstGeom prst="rect">
            <a:avLst/>
          </a:prstGeom>
          <a:noFill/>
          <a:ln/>
        </p:spPr>
        <p:txBody>
          <a:bodyPr wrap="square" lIns="0" tIns="0" rIns="0" bIns="0" rtlCol="0" anchor="ctr"/>
          <a:lstStyle/>
          <a:p>
            <a:pPr algn="ctr" indent="0" marL="0">
              <a:buNone/>
            </a:pPr>
            <a:r>
              <a:rPr lang="en-US" sz="1000" dirty="0">
                <a:solidFill>
                  <a:schemeClr val="tx1">
                    <a:alpha val="60000"/>
                  </a:schemeClr>
                </a:solidFill>
              </a:rPr>
              <a:t>localhost:3000/dashboard/sql</a:t>
            </a:r>
            <a:endParaRPr lang="en-US" sz="1000" dirty="0"/>
          </a:p>
        </p:txBody>
      </p:sp>
      <p:pic>
        <p:nvPicPr>
          <p:cNvPr id="14" name="sql console screenshot" descr="sql console screenshot">    </p:cNvPr>
          <p:cNvPicPr>
            <a:picLocks noChangeAspect="1"/>
          </p:cNvPicPr>
          <p:nvPr/>
        </p:nvPicPr>
        <p:blipFill>
          <a:blip r:embed="rId2"/>
          <a:stretch>
            <a:fillRect/>
          </a:stretch>
        </p:blipFill>
        <p:spPr>
          <a:xfrm>
            <a:off x="1618488" y="3520440"/>
            <a:ext cx="4535424" cy="2755270"/>
          </a:xfrm>
          <a:prstGeom prst="rect">
            <a:avLst/>
          </a:prstGeom>
        </p:spPr>
      </p:pic>
      <p:sp>
        <p:nvSpPr>
          <p:cNvPr id="15" name="security 1 circle"/>
          <p:cNvSpPr/>
          <p:nvPr/>
        </p:nvSpPr>
        <p:spPr>
          <a:xfrm>
            <a:off x="6629400" y="1426464"/>
            <a:ext cx="457200" cy="457200"/>
          </a:xfrm>
          <a:prstGeom prst="ellipse">
            <a:avLst/>
          </a:prstGeom>
          <a:solidFill>
            <a:schemeClr val="bg2"/>
          </a:solidFill>
          <a:ln w="12700">
            <a:solidFill>
              <a:schemeClr val="bg2"/>
            </a:solidFill>
            <a:prstDash val="solid"/>
          </a:ln>
        </p:spPr>
      </p:sp>
      <p:pic>
        <p:nvPicPr>
          <p:cNvPr id="16" name="security 1 icon" descr="preencoded.png">    </p:cNvPr>
          <p:cNvPicPr>
            <a:picLocks noChangeAspect="1"/>
          </p:cNvPicPr>
          <p:nvPr/>
        </p:nvPicPr>
        <p:blipFill>
          <a:blip r:embed="rId3"/>
          <a:stretch>
            <a:fillRect/>
          </a:stretch>
        </p:blipFill>
        <p:spPr>
          <a:xfrm>
            <a:off x="6739128" y="1536192"/>
            <a:ext cx="237744" cy="237744"/>
          </a:xfrm>
          <a:prstGeom prst="rect">
            <a:avLst/>
          </a:prstGeom>
        </p:spPr>
      </p:pic>
      <p:sp>
        <p:nvSpPr>
          <p:cNvPr id="17" name="security text 1"/>
          <p:cNvSpPr txBox="1"/>
          <p:nvPr/>
        </p:nvSpPr>
        <p:spPr>
          <a:xfrm>
            <a:off x="7269480" y="1371600"/>
            <a:ext cx="4370832" cy="603504"/>
          </a:xfrm>
          <a:prstGeom prst="rect">
            <a:avLst/>
          </a:prstGeom>
          <a:noFill/>
          <a:ln/>
        </p:spPr>
        <p:txBody>
          <a:bodyPr wrap="square" lIns="0" tIns="0" rIns="0" bIns="0" rtlCol="0" anchor="ctr"/>
          <a:lstStyle/>
          <a:p>
            <a:pPr indent="0" marL="0">
              <a:buNone/>
            </a:pPr>
            <a:r>
              <a:rPr lang="en-US" sz="1600" b="1" dirty="0">
                <a:solidFill>
                  <a:schemeClr val="tx2"/>
                </a:solidFill>
              </a:rPr>
              <a:t>Verified accounts</a:t>
            </a:r>
            <a:endParaRPr lang="en-US" sz="1600" dirty="0"/>
          </a:p>
          <a:p>
            <a:pPr indent="0" marL="0">
              <a:buNone/>
            </a:pPr>
            <a:r>
              <a:rPr lang="en-US" sz="1400" dirty="0">
                <a:solidFill>
                  <a:schemeClr val="tx1">
                    <a:alpha val="80000"/>
                  </a:schemeClr>
                </a:solidFill>
              </a:rPr>
              <a:t>bcrypt passwords and a 6-digit email code (5 tries)</a:t>
            </a:r>
            <a:endParaRPr lang="en-US" sz="1600" dirty="0"/>
          </a:p>
        </p:txBody>
      </p:sp>
      <p:sp>
        <p:nvSpPr>
          <p:cNvPr id="18" name="security 2 circle"/>
          <p:cNvSpPr/>
          <p:nvPr/>
        </p:nvSpPr>
        <p:spPr>
          <a:xfrm>
            <a:off x="6629400" y="2212848"/>
            <a:ext cx="457200" cy="457200"/>
          </a:xfrm>
          <a:prstGeom prst="ellipse">
            <a:avLst/>
          </a:prstGeom>
          <a:solidFill>
            <a:schemeClr val="bg2"/>
          </a:solidFill>
          <a:ln w="12700">
            <a:solidFill>
              <a:schemeClr val="bg2"/>
            </a:solidFill>
            <a:prstDash val="solid"/>
          </a:ln>
        </p:spPr>
      </p:sp>
      <p:pic>
        <p:nvPicPr>
          <p:cNvPr id="19" name="security 2 icon" descr="preencoded.png">    </p:cNvPr>
          <p:cNvPicPr>
            <a:picLocks noChangeAspect="1"/>
          </p:cNvPicPr>
          <p:nvPr/>
        </p:nvPicPr>
        <p:blipFill>
          <a:blip r:embed="rId4"/>
          <a:stretch>
            <a:fillRect/>
          </a:stretch>
        </p:blipFill>
        <p:spPr>
          <a:xfrm>
            <a:off x="6739128" y="2322576"/>
            <a:ext cx="237744" cy="237744"/>
          </a:xfrm>
          <a:prstGeom prst="rect">
            <a:avLst/>
          </a:prstGeom>
        </p:spPr>
      </p:pic>
      <p:sp>
        <p:nvSpPr>
          <p:cNvPr id="20" name="security text 2"/>
          <p:cNvSpPr txBox="1"/>
          <p:nvPr/>
        </p:nvSpPr>
        <p:spPr>
          <a:xfrm>
            <a:off x="7269480" y="2157984"/>
            <a:ext cx="4370832" cy="603504"/>
          </a:xfrm>
          <a:prstGeom prst="rect">
            <a:avLst/>
          </a:prstGeom>
          <a:noFill/>
          <a:ln/>
        </p:spPr>
        <p:txBody>
          <a:bodyPr wrap="square" lIns="0" tIns="0" rIns="0" bIns="0" rtlCol="0" anchor="ctr"/>
          <a:lstStyle/>
          <a:p>
            <a:pPr indent="0" marL="0">
              <a:buNone/>
            </a:pPr>
            <a:r>
              <a:rPr lang="en-US" sz="1600" b="1" dirty="0">
                <a:solidFill>
                  <a:schemeClr val="tx2"/>
                </a:solidFill>
              </a:rPr>
              <a:t>Short sessions</a:t>
            </a:r>
            <a:endParaRPr lang="en-US" sz="1600" dirty="0"/>
          </a:p>
          <a:p>
            <a:pPr indent="0" marL="0">
              <a:buNone/>
            </a:pPr>
            <a:r>
              <a:rPr lang="en-US" sz="1400" dirty="0">
                <a:solidFill>
                  <a:schemeClr val="tx1">
                    <a:alpha val="80000"/>
                  </a:schemeClr>
                </a:solidFill>
              </a:rPr>
              <a:t>15-minute tokens; logout ends every session</a:t>
            </a:r>
            <a:endParaRPr lang="en-US" sz="1600" dirty="0"/>
          </a:p>
        </p:txBody>
      </p:sp>
      <p:sp>
        <p:nvSpPr>
          <p:cNvPr id="21" name="security 3 circle"/>
          <p:cNvSpPr/>
          <p:nvPr/>
        </p:nvSpPr>
        <p:spPr>
          <a:xfrm>
            <a:off x="6629400" y="2999232"/>
            <a:ext cx="457200" cy="457200"/>
          </a:xfrm>
          <a:prstGeom prst="ellipse">
            <a:avLst/>
          </a:prstGeom>
          <a:solidFill>
            <a:schemeClr val="bg2"/>
          </a:solidFill>
          <a:ln w="12700">
            <a:solidFill>
              <a:schemeClr val="bg2"/>
            </a:solidFill>
            <a:prstDash val="solid"/>
          </a:ln>
        </p:spPr>
      </p:sp>
      <p:pic>
        <p:nvPicPr>
          <p:cNvPr id="22" name="security 3 icon" descr="preencoded.png">    </p:cNvPr>
          <p:cNvPicPr>
            <a:picLocks noChangeAspect="1"/>
          </p:cNvPicPr>
          <p:nvPr/>
        </p:nvPicPr>
        <p:blipFill>
          <a:blip r:embed="rId5"/>
          <a:stretch>
            <a:fillRect/>
          </a:stretch>
        </p:blipFill>
        <p:spPr>
          <a:xfrm>
            <a:off x="6739128" y="3108960"/>
            <a:ext cx="237744" cy="237744"/>
          </a:xfrm>
          <a:prstGeom prst="rect">
            <a:avLst/>
          </a:prstGeom>
        </p:spPr>
      </p:pic>
      <p:sp>
        <p:nvSpPr>
          <p:cNvPr id="23" name="security text 3"/>
          <p:cNvSpPr txBox="1"/>
          <p:nvPr/>
        </p:nvSpPr>
        <p:spPr>
          <a:xfrm>
            <a:off x="7269480" y="2944368"/>
            <a:ext cx="4370832" cy="603504"/>
          </a:xfrm>
          <a:prstGeom prst="rect">
            <a:avLst/>
          </a:prstGeom>
          <a:noFill/>
          <a:ln/>
        </p:spPr>
        <p:txBody>
          <a:bodyPr wrap="square" lIns="0" tIns="0" rIns="0" bIns="0" rtlCol="0" anchor="ctr"/>
          <a:lstStyle/>
          <a:p>
            <a:pPr indent="0" marL="0">
              <a:buNone/>
            </a:pPr>
            <a:r>
              <a:rPr lang="en-US" sz="1600" b="1" dirty="0">
                <a:solidFill>
                  <a:schemeClr val="tx2"/>
                </a:solidFill>
              </a:rPr>
              <a:t>Rate limits</a:t>
            </a:r>
            <a:endParaRPr lang="en-US" sz="1600" dirty="0"/>
          </a:p>
          <a:p>
            <a:pPr indent="0" marL="0">
              <a:buNone/>
            </a:pPr>
            <a:r>
              <a:rPr lang="en-US" sz="1400" dirty="0">
                <a:solidFill>
                  <a:schemeClr val="tx1">
                    <a:alpha val="80000"/>
                  </a:schemeClr>
                </a:solidFill>
              </a:rPr>
              <a:t>5 to 30 requests a minute on sign-in routes</a:t>
            </a:r>
            <a:endParaRPr lang="en-US" sz="1600" dirty="0"/>
          </a:p>
        </p:txBody>
      </p:sp>
      <p:sp>
        <p:nvSpPr>
          <p:cNvPr id="24" name="security 4 circle"/>
          <p:cNvSpPr/>
          <p:nvPr/>
        </p:nvSpPr>
        <p:spPr>
          <a:xfrm>
            <a:off x="6629400" y="3785616"/>
            <a:ext cx="457200" cy="457200"/>
          </a:xfrm>
          <a:prstGeom prst="ellipse">
            <a:avLst/>
          </a:prstGeom>
          <a:solidFill>
            <a:schemeClr val="bg2"/>
          </a:solidFill>
          <a:ln w="12700">
            <a:solidFill>
              <a:schemeClr val="bg2"/>
            </a:solidFill>
            <a:prstDash val="solid"/>
          </a:ln>
        </p:spPr>
      </p:sp>
      <p:pic>
        <p:nvPicPr>
          <p:cNvPr id="25" name="security 4 icon" descr="preencoded.png">    </p:cNvPr>
          <p:cNvPicPr>
            <a:picLocks noChangeAspect="1"/>
          </p:cNvPicPr>
          <p:nvPr/>
        </p:nvPicPr>
        <p:blipFill>
          <a:blip r:embed="rId6"/>
          <a:stretch>
            <a:fillRect/>
          </a:stretch>
        </p:blipFill>
        <p:spPr>
          <a:xfrm>
            <a:off x="6739128" y="3895344"/>
            <a:ext cx="237744" cy="237744"/>
          </a:xfrm>
          <a:prstGeom prst="rect">
            <a:avLst/>
          </a:prstGeom>
        </p:spPr>
      </p:pic>
      <p:sp>
        <p:nvSpPr>
          <p:cNvPr id="26" name="security text 4"/>
          <p:cNvSpPr txBox="1"/>
          <p:nvPr/>
        </p:nvSpPr>
        <p:spPr>
          <a:xfrm>
            <a:off x="7269480" y="3730752"/>
            <a:ext cx="4370832" cy="603504"/>
          </a:xfrm>
          <a:prstGeom prst="rect">
            <a:avLst/>
          </a:prstGeom>
          <a:noFill/>
          <a:ln/>
        </p:spPr>
        <p:txBody>
          <a:bodyPr wrap="square" lIns="0" tIns="0" rIns="0" bIns="0" rtlCol="0" anchor="ctr"/>
          <a:lstStyle/>
          <a:p>
            <a:pPr indent="0" marL="0">
              <a:buNone/>
            </a:pPr>
            <a:r>
              <a:rPr lang="en-US" sz="1600" b="1" dirty="0">
                <a:solidFill>
                  <a:schemeClr val="tx2"/>
                </a:solidFill>
              </a:rPr>
              <a:t>Encrypted credentials</a:t>
            </a:r>
            <a:endParaRPr lang="en-US" sz="1600" dirty="0"/>
          </a:p>
          <a:p>
            <a:pPr indent="0" marL="0">
              <a:buNone/>
            </a:pPr>
            <a:r>
              <a:rPr lang="en-US" sz="1400" dirty="0">
                <a:solidFill>
                  <a:schemeClr val="tx1">
                    <a:alpha val="80000"/>
                  </a:schemeClr>
                </a:solidFill>
              </a:rPr>
              <a:t>Data-source passwords stored with Fernet</a:t>
            </a:r>
            <a:endParaRPr lang="en-US" sz="1600" dirty="0"/>
          </a:p>
        </p:txBody>
      </p:sp>
      <p:sp>
        <p:nvSpPr>
          <p:cNvPr id="27" name="security 5 circle"/>
          <p:cNvSpPr/>
          <p:nvPr/>
        </p:nvSpPr>
        <p:spPr>
          <a:xfrm>
            <a:off x="6629400" y="4572000"/>
            <a:ext cx="457200" cy="457200"/>
          </a:xfrm>
          <a:prstGeom prst="ellipse">
            <a:avLst/>
          </a:prstGeom>
          <a:solidFill>
            <a:schemeClr val="bg2"/>
          </a:solidFill>
          <a:ln w="12700">
            <a:solidFill>
              <a:schemeClr val="bg2"/>
            </a:solidFill>
            <a:prstDash val="solid"/>
          </a:ln>
        </p:spPr>
      </p:sp>
      <p:pic>
        <p:nvPicPr>
          <p:cNvPr id="28" name="security 5 icon" descr="preencoded.png">    </p:cNvPr>
          <p:cNvPicPr>
            <a:picLocks noChangeAspect="1"/>
          </p:cNvPicPr>
          <p:nvPr/>
        </p:nvPicPr>
        <p:blipFill>
          <a:blip r:embed="rId7"/>
          <a:stretch>
            <a:fillRect/>
          </a:stretch>
        </p:blipFill>
        <p:spPr>
          <a:xfrm>
            <a:off x="6739128" y="4681728"/>
            <a:ext cx="237744" cy="237744"/>
          </a:xfrm>
          <a:prstGeom prst="rect">
            <a:avLst/>
          </a:prstGeom>
        </p:spPr>
      </p:pic>
      <p:sp>
        <p:nvSpPr>
          <p:cNvPr id="29" name="security text 5"/>
          <p:cNvSpPr txBox="1"/>
          <p:nvPr/>
        </p:nvSpPr>
        <p:spPr>
          <a:xfrm>
            <a:off x="7269480" y="4517136"/>
            <a:ext cx="4370832" cy="603504"/>
          </a:xfrm>
          <a:prstGeom prst="rect">
            <a:avLst/>
          </a:prstGeom>
          <a:noFill/>
          <a:ln/>
        </p:spPr>
        <p:txBody>
          <a:bodyPr wrap="square" lIns="0" tIns="0" rIns="0" bIns="0" rtlCol="0" anchor="ctr"/>
          <a:lstStyle/>
          <a:p>
            <a:pPr indent="0" marL="0">
              <a:buNone/>
            </a:pPr>
            <a:r>
              <a:rPr lang="en-US" sz="1600" b="1" dirty="0">
                <a:solidFill>
                  <a:schemeClr val="tx2"/>
                </a:solidFill>
              </a:rPr>
              <a:t>Confirmed changes</a:t>
            </a:r>
            <a:endParaRPr lang="en-US" sz="1600" dirty="0"/>
          </a:p>
          <a:p>
            <a:pPr indent="0" marL="0">
              <a:buNone/>
            </a:pPr>
            <a:r>
              <a:rPr lang="en-US" sz="1400" dirty="0">
                <a:solidFill>
                  <a:schemeClr val="tx1">
                    <a:alpha val="80000"/>
                  </a:schemeClr>
                </a:solidFill>
              </a:rPr>
              <a:t>One click for a change, two for a whole table</a:t>
            </a:r>
            <a:endParaRPr lang="en-US" sz="1600" dirty="0"/>
          </a:p>
        </p:txBody>
      </p:sp>
      <p:sp>
        <p:nvSpPr>
          <p:cNvPr id="30" name="security 6 circle"/>
          <p:cNvSpPr/>
          <p:nvPr/>
        </p:nvSpPr>
        <p:spPr>
          <a:xfrm>
            <a:off x="6629400" y="5358384"/>
            <a:ext cx="457200" cy="457200"/>
          </a:xfrm>
          <a:prstGeom prst="ellipse">
            <a:avLst/>
          </a:prstGeom>
          <a:solidFill>
            <a:schemeClr val="bg2"/>
          </a:solidFill>
          <a:ln w="12700">
            <a:solidFill>
              <a:schemeClr val="bg2"/>
            </a:solidFill>
            <a:prstDash val="solid"/>
          </a:ln>
        </p:spPr>
      </p:sp>
      <p:pic>
        <p:nvPicPr>
          <p:cNvPr id="31" name="security 6 icon" descr="preencoded.png">    </p:cNvPr>
          <p:cNvPicPr>
            <a:picLocks noChangeAspect="1"/>
          </p:cNvPicPr>
          <p:nvPr/>
        </p:nvPicPr>
        <p:blipFill>
          <a:blip r:embed="rId8"/>
          <a:stretch>
            <a:fillRect/>
          </a:stretch>
        </p:blipFill>
        <p:spPr>
          <a:xfrm>
            <a:off x="6739128" y="5468112"/>
            <a:ext cx="237744" cy="237744"/>
          </a:xfrm>
          <a:prstGeom prst="rect">
            <a:avLst/>
          </a:prstGeom>
        </p:spPr>
      </p:pic>
      <p:sp>
        <p:nvSpPr>
          <p:cNvPr id="32" name="security text 6"/>
          <p:cNvSpPr txBox="1"/>
          <p:nvPr/>
        </p:nvSpPr>
        <p:spPr>
          <a:xfrm>
            <a:off x="7269480" y="5303520"/>
            <a:ext cx="4370832" cy="603504"/>
          </a:xfrm>
          <a:prstGeom prst="rect">
            <a:avLst/>
          </a:prstGeom>
          <a:noFill/>
          <a:ln/>
        </p:spPr>
        <p:txBody>
          <a:bodyPr wrap="square" lIns="0" tIns="0" rIns="0" bIns="0" rtlCol="0" anchor="ctr"/>
          <a:lstStyle/>
          <a:p>
            <a:pPr indent="0" marL="0">
              <a:buNone/>
            </a:pPr>
            <a:r>
              <a:rPr lang="en-US" sz="1600" b="1" dirty="0">
                <a:solidFill>
                  <a:schemeClr val="tx2"/>
                </a:solidFill>
              </a:rPr>
              <a:t>Full audit log</a:t>
            </a:r>
            <a:endParaRPr lang="en-US" sz="1600" dirty="0"/>
          </a:p>
          <a:p>
            <a:pPr indent="0" marL="0">
              <a:buNone/>
            </a:pPr>
            <a:r>
              <a:rPr lang="en-US" sz="1400" dirty="0">
                <a:solidFill>
                  <a:schemeClr val="tx1">
                    <a:alpha val="80000"/>
                  </a:schemeClr>
                </a:solidFill>
              </a:rPr>
              <a:t>Every question, its SQL, row count and errors</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881360" cy="868680"/>
          </a:xfrm>
          <a:prstGeom prst="rect">
            <a:avLst/>
          </a:prstGeom>
          <a:noFill/>
          <a:ln/>
        </p:spPr>
        <p:txBody>
          <a:bodyPr wrap="square" lIns="0" tIns="0" rIns="0" bIns="0" rtlCol="0" anchor="ctr"/>
          <a:lstStyle/>
          <a:p>
            <a:pPr algn="l" indent="0" marL="0">
              <a:buNone/>
            </a:pPr>
            <a:r>
              <a:rPr lang="en-US" sz="4000" b="1" dirty="0">
                <a:solidFill>
                  <a:schemeClr val="bg1"/>
                </a:solidFill>
              </a:rPr>
              <a:t>Delivered, tested and ready to grow</a:t>
            </a:r>
            <a:endParaRPr lang="en-US" sz="4000" dirty="0"/>
          </a:p>
        </p:txBody>
      </p:sp>
      <p:sp>
        <p:nvSpPr>
          <p:cNvPr id="3" name="stat tile 1"/>
          <p:cNvSpPr/>
          <p:nvPr/>
        </p:nvSpPr>
        <p:spPr>
          <a:xfrm>
            <a:off x="640080" y="1691640"/>
            <a:ext cx="2514600" cy="1508760"/>
          </a:xfrm>
          <a:prstGeom prst="roundRect">
            <a:avLst>
              <a:gd name="adj" fmla="val 8485"/>
            </a:avLst>
          </a:prstGeom>
          <a:solidFill>
            <a:schemeClr val="accent2"/>
          </a:solidFill>
          <a:ln w="9525">
            <a:solidFill>
              <a:schemeClr val="accent1"/>
            </a:solidFill>
            <a:prstDash val="solid"/>
          </a:ln>
        </p:spPr>
      </p:sp>
      <p:sp>
        <p:nvSpPr>
          <p:cNvPr id="4" name="stat text 1"/>
          <p:cNvSpPr txBox="1"/>
          <p:nvPr/>
        </p:nvSpPr>
        <p:spPr>
          <a:xfrm>
            <a:off x="640080" y="1691640"/>
            <a:ext cx="2514600" cy="1508760"/>
          </a:xfrm>
          <a:prstGeom prst="rect">
            <a:avLst/>
          </a:prstGeom>
          <a:noFill/>
          <a:ln/>
        </p:spPr>
        <p:txBody>
          <a:bodyPr wrap="square" lIns="0" tIns="0" rIns="0" bIns="0" rtlCol="0" anchor="ctr"/>
          <a:lstStyle/>
          <a:p>
            <a:pPr algn="ctr" indent="0" marL="0">
              <a:buNone/>
            </a:pPr>
            <a:r>
              <a:rPr lang="en-US" sz="4800" b="1" dirty="0">
                <a:solidFill>
                  <a:schemeClr val="bg1"/>
                </a:solidFill>
              </a:rPr>
              <a:t>39</a:t>
            </a:r>
            <a:endParaRPr lang="en-US" sz="4800" dirty="0"/>
          </a:p>
          <a:p>
            <a:pPr algn="ctr" indent="0" marL="0">
              <a:buNone/>
            </a:pPr>
            <a:r>
              <a:rPr lang="en-US" sz="1600" dirty="0">
                <a:solidFill>
                  <a:schemeClr val="accent5"/>
                </a:solidFill>
              </a:rPr>
              <a:t>API endpoints</a:t>
            </a:r>
            <a:endParaRPr lang="en-US" sz="4800" dirty="0"/>
          </a:p>
        </p:txBody>
      </p:sp>
      <p:sp>
        <p:nvSpPr>
          <p:cNvPr id="5" name="stat tile 2"/>
          <p:cNvSpPr/>
          <p:nvPr/>
        </p:nvSpPr>
        <p:spPr>
          <a:xfrm>
            <a:off x="3429000" y="1691640"/>
            <a:ext cx="2514600" cy="1508760"/>
          </a:xfrm>
          <a:prstGeom prst="roundRect">
            <a:avLst>
              <a:gd name="adj" fmla="val 8485"/>
            </a:avLst>
          </a:prstGeom>
          <a:solidFill>
            <a:schemeClr val="accent2"/>
          </a:solidFill>
          <a:ln w="9525">
            <a:solidFill>
              <a:schemeClr val="accent1"/>
            </a:solidFill>
            <a:prstDash val="solid"/>
          </a:ln>
        </p:spPr>
      </p:sp>
      <p:sp>
        <p:nvSpPr>
          <p:cNvPr id="6" name="stat text 2"/>
          <p:cNvSpPr txBox="1"/>
          <p:nvPr/>
        </p:nvSpPr>
        <p:spPr>
          <a:xfrm>
            <a:off x="3429000" y="1691640"/>
            <a:ext cx="2514600" cy="1508760"/>
          </a:xfrm>
          <a:prstGeom prst="rect">
            <a:avLst/>
          </a:prstGeom>
          <a:noFill/>
          <a:ln/>
        </p:spPr>
        <p:txBody>
          <a:bodyPr wrap="square" lIns="0" tIns="0" rIns="0" bIns="0" rtlCol="0" anchor="ctr"/>
          <a:lstStyle/>
          <a:p>
            <a:pPr algn="ctr" indent="0" marL="0">
              <a:buNone/>
            </a:pPr>
            <a:r>
              <a:rPr lang="en-US" sz="4800" b="1" dirty="0">
                <a:solidFill>
                  <a:schemeClr val="bg1"/>
                </a:solidFill>
              </a:rPr>
              <a:t>68</a:t>
            </a:r>
            <a:endParaRPr lang="en-US" sz="4800" dirty="0"/>
          </a:p>
          <a:p>
            <a:pPr algn="ctr" indent="0" marL="0">
              <a:buNone/>
            </a:pPr>
            <a:r>
              <a:rPr lang="en-US" sz="1600" dirty="0">
                <a:solidFill>
                  <a:schemeClr val="accent5"/>
                </a:solidFill>
              </a:rPr>
              <a:t>automated tests</a:t>
            </a:r>
            <a:endParaRPr lang="en-US" sz="4800" dirty="0"/>
          </a:p>
        </p:txBody>
      </p:sp>
      <p:sp>
        <p:nvSpPr>
          <p:cNvPr id="7" name="stat tile 3"/>
          <p:cNvSpPr/>
          <p:nvPr/>
        </p:nvSpPr>
        <p:spPr>
          <a:xfrm>
            <a:off x="6217920" y="1691640"/>
            <a:ext cx="2514600" cy="1508760"/>
          </a:xfrm>
          <a:prstGeom prst="roundRect">
            <a:avLst>
              <a:gd name="adj" fmla="val 8485"/>
            </a:avLst>
          </a:prstGeom>
          <a:solidFill>
            <a:schemeClr val="accent2"/>
          </a:solidFill>
          <a:ln w="9525">
            <a:solidFill>
              <a:schemeClr val="accent1"/>
            </a:solidFill>
            <a:prstDash val="solid"/>
          </a:ln>
        </p:spPr>
      </p:sp>
      <p:sp>
        <p:nvSpPr>
          <p:cNvPr id="8" name="stat text 3"/>
          <p:cNvSpPr txBox="1"/>
          <p:nvPr/>
        </p:nvSpPr>
        <p:spPr>
          <a:xfrm>
            <a:off x="6217920" y="1691640"/>
            <a:ext cx="2514600" cy="1508760"/>
          </a:xfrm>
          <a:prstGeom prst="rect">
            <a:avLst/>
          </a:prstGeom>
          <a:noFill/>
          <a:ln/>
        </p:spPr>
        <p:txBody>
          <a:bodyPr wrap="square" lIns="0" tIns="0" rIns="0" bIns="0" rtlCol="0" anchor="ctr"/>
          <a:lstStyle/>
          <a:p>
            <a:pPr algn="ctr" indent="0" marL="0">
              <a:buNone/>
            </a:pPr>
            <a:r>
              <a:rPr lang="en-US" sz="4800" b="1" dirty="0">
                <a:solidFill>
                  <a:schemeClr val="bg1"/>
                </a:solidFill>
              </a:rPr>
              <a:t>11</a:t>
            </a:r>
            <a:endParaRPr lang="en-US" sz="4800" dirty="0"/>
          </a:p>
          <a:p>
            <a:pPr algn="ctr" indent="0" marL="0">
              <a:buNone/>
            </a:pPr>
            <a:r>
              <a:rPr lang="en-US" sz="1600" dirty="0">
                <a:solidFill>
                  <a:schemeClr val="accent5"/>
                </a:solidFill>
              </a:rPr>
              <a:t>SQL safety checks</a:t>
            </a:r>
            <a:endParaRPr lang="en-US" sz="4800" dirty="0"/>
          </a:p>
        </p:txBody>
      </p:sp>
      <p:sp>
        <p:nvSpPr>
          <p:cNvPr id="9" name="stat tile 4"/>
          <p:cNvSpPr/>
          <p:nvPr/>
        </p:nvSpPr>
        <p:spPr>
          <a:xfrm>
            <a:off x="9006840" y="1691640"/>
            <a:ext cx="2514600" cy="1508760"/>
          </a:xfrm>
          <a:prstGeom prst="roundRect">
            <a:avLst>
              <a:gd name="adj" fmla="val 8485"/>
            </a:avLst>
          </a:prstGeom>
          <a:solidFill>
            <a:schemeClr val="accent2"/>
          </a:solidFill>
          <a:ln w="9525">
            <a:solidFill>
              <a:schemeClr val="accent1"/>
            </a:solidFill>
            <a:prstDash val="solid"/>
          </a:ln>
        </p:spPr>
      </p:sp>
      <p:sp>
        <p:nvSpPr>
          <p:cNvPr id="10" name="stat text 4"/>
          <p:cNvSpPr txBox="1"/>
          <p:nvPr/>
        </p:nvSpPr>
        <p:spPr>
          <a:xfrm>
            <a:off x="9006840" y="1691640"/>
            <a:ext cx="2514600" cy="1508760"/>
          </a:xfrm>
          <a:prstGeom prst="rect">
            <a:avLst/>
          </a:prstGeom>
          <a:noFill/>
          <a:ln/>
        </p:spPr>
        <p:txBody>
          <a:bodyPr wrap="square" lIns="0" tIns="0" rIns="0" bIns="0" rtlCol="0" anchor="ctr"/>
          <a:lstStyle/>
          <a:p>
            <a:pPr algn="ctr" indent="0" marL="0">
              <a:buNone/>
            </a:pPr>
            <a:r>
              <a:rPr lang="en-US" sz="4800" b="1" dirty="0">
                <a:solidFill>
                  <a:schemeClr val="bg1"/>
                </a:solidFill>
              </a:rPr>
              <a:t>5</a:t>
            </a:r>
            <a:endParaRPr lang="en-US" sz="4800" dirty="0"/>
          </a:p>
          <a:p>
            <a:pPr algn="ctr" indent="0" marL="0">
              <a:buNone/>
            </a:pPr>
            <a:r>
              <a:rPr lang="en-US" sz="1600" dirty="0">
                <a:solidFill>
                  <a:schemeClr val="accent5"/>
                </a:solidFill>
              </a:rPr>
              <a:t>database types</a:t>
            </a:r>
            <a:endParaRPr lang="en-US" sz="4800" dirty="0"/>
          </a:p>
        </p:txBody>
      </p:sp>
      <p:sp>
        <p:nvSpPr>
          <p:cNvPr id="11" name="next header"/>
          <p:cNvSpPr txBox="1"/>
          <p:nvPr/>
        </p:nvSpPr>
        <p:spPr>
          <a:xfrm>
            <a:off x="640080" y="3611880"/>
            <a:ext cx="4572000" cy="411480"/>
          </a:xfrm>
          <a:prstGeom prst="rect">
            <a:avLst/>
          </a:prstGeom>
          <a:noFill/>
          <a:ln/>
        </p:spPr>
        <p:txBody>
          <a:bodyPr wrap="square" lIns="0" tIns="0" rIns="0" bIns="0" rtlCol="0" anchor="ctr"/>
          <a:lstStyle/>
          <a:p>
            <a:pPr indent="0" marL="0">
              <a:buNone/>
            </a:pPr>
            <a:r>
              <a:rPr lang="en-US" sz="2200" b="1" dirty="0">
                <a:solidFill>
                  <a:schemeClr val="accent5"/>
                </a:solidFill>
              </a:rPr>
              <a:t>Next steps</a:t>
            </a:r>
            <a:endParaRPr lang="en-US" sz="2200" dirty="0"/>
          </a:p>
        </p:txBody>
      </p:sp>
      <p:sp>
        <p:nvSpPr>
          <p:cNvPr id="12" name="next 1 circle"/>
          <p:cNvSpPr/>
          <p:nvPr/>
        </p:nvSpPr>
        <p:spPr>
          <a:xfrm>
            <a:off x="640080" y="4197096"/>
            <a:ext cx="384048" cy="384048"/>
          </a:xfrm>
          <a:prstGeom prst="ellipse">
            <a:avLst/>
          </a:prstGeom>
          <a:solidFill>
            <a:schemeClr val="accent1"/>
          </a:solidFill>
          <a:ln w="12700">
            <a:solidFill>
              <a:schemeClr val="accent1"/>
            </a:solidFill>
            <a:prstDash val="solid"/>
          </a:ln>
        </p:spPr>
      </p:sp>
      <p:pic>
        <p:nvPicPr>
          <p:cNvPr id="13" name="next 1 icon" descr="preencoded.png">    </p:cNvPr>
          <p:cNvPicPr>
            <a:picLocks noChangeAspect="1"/>
          </p:cNvPicPr>
          <p:nvPr/>
        </p:nvPicPr>
        <p:blipFill>
          <a:blip r:embed="rId1"/>
          <a:stretch>
            <a:fillRect/>
          </a:stretch>
        </p:blipFill>
        <p:spPr>
          <a:xfrm>
            <a:off x="732252" y="4289268"/>
            <a:ext cx="199705" cy="199705"/>
          </a:xfrm>
          <a:prstGeom prst="rect">
            <a:avLst/>
          </a:prstGeom>
        </p:spPr>
      </p:pic>
      <p:sp>
        <p:nvSpPr>
          <p:cNvPr id="14" name="next text 1"/>
          <p:cNvSpPr txBox="1"/>
          <p:nvPr/>
        </p:nvSpPr>
        <p:spPr>
          <a:xfrm>
            <a:off x="1188720" y="4160520"/>
            <a:ext cx="4846320" cy="457200"/>
          </a:xfrm>
          <a:prstGeom prst="rect">
            <a:avLst/>
          </a:prstGeom>
          <a:noFill/>
          <a:ln/>
        </p:spPr>
        <p:txBody>
          <a:bodyPr wrap="square" lIns="0" tIns="0" rIns="0" bIns="0" rtlCol="0" anchor="ctr"/>
          <a:lstStyle/>
          <a:p>
            <a:pPr indent="0" marL="0">
              <a:buNone/>
            </a:pPr>
            <a:r>
              <a:rPr lang="en-US" sz="1600" dirty="0">
                <a:solidFill>
                  <a:schemeClr val="bg1"/>
                </a:solidFill>
              </a:rPr>
              <a:t>Alembic migrations for database changes</a:t>
            </a:r>
            <a:endParaRPr lang="en-US" sz="1600" dirty="0"/>
          </a:p>
        </p:txBody>
      </p:sp>
      <p:sp>
        <p:nvSpPr>
          <p:cNvPr id="15" name="next 2 circle"/>
          <p:cNvSpPr/>
          <p:nvPr/>
        </p:nvSpPr>
        <p:spPr>
          <a:xfrm>
            <a:off x="6217920" y="4197096"/>
            <a:ext cx="384048" cy="384048"/>
          </a:xfrm>
          <a:prstGeom prst="ellipse">
            <a:avLst/>
          </a:prstGeom>
          <a:solidFill>
            <a:schemeClr val="accent1"/>
          </a:solidFill>
          <a:ln w="12700">
            <a:solidFill>
              <a:schemeClr val="accent1"/>
            </a:solidFill>
            <a:prstDash val="solid"/>
          </a:ln>
        </p:spPr>
      </p:sp>
      <p:pic>
        <p:nvPicPr>
          <p:cNvPr id="16" name="next 2 icon" descr="preencoded.png">    </p:cNvPr>
          <p:cNvPicPr>
            <a:picLocks noChangeAspect="1"/>
          </p:cNvPicPr>
          <p:nvPr/>
        </p:nvPicPr>
        <p:blipFill>
          <a:blip r:embed="rId2"/>
          <a:stretch>
            <a:fillRect/>
          </a:stretch>
        </p:blipFill>
        <p:spPr>
          <a:xfrm>
            <a:off x="6310092" y="4289268"/>
            <a:ext cx="199705" cy="199705"/>
          </a:xfrm>
          <a:prstGeom prst="rect">
            <a:avLst/>
          </a:prstGeom>
        </p:spPr>
      </p:pic>
      <p:sp>
        <p:nvSpPr>
          <p:cNvPr id="17" name="next text 2"/>
          <p:cNvSpPr txBox="1"/>
          <p:nvPr/>
        </p:nvSpPr>
        <p:spPr>
          <a:xfrm>
            <a:off x="6766560" y="4160520"/>
            <a:ext cx="4846320" cy="457200"/>
          </a:xfrm>
          <a:prstGeom prst="rect">
            <a:avLst/>
          </a:prstGeom>
          <a:noFill/>
          <a:ln/>
        </p:spPr>
        <p:txBody>
          <a:bodyPr wrap="square" lIns="0" tIns="0" rIns="0" bIns="0" rtlCol="0" anchor="ctr"/>
          <a:lstStyle/>
          <a:p>
            <a:pPr indent="0" marL="0">
              <a:buNone/>
            </a:pPr>
            <a:r>
              <a:rPr lang="en-US" sz="1600" dirty="0">
                <a:solidFill>
                  <a:schemeClr val="bg1"/>
                </a:solidFill>
              </a:rPr>
              <a:t>Keep chat memory in Redis or a vector database</a:t>
            </a:r>
            <a:endParaRPr lang="en-US" sz="1600" dirty="0"/>
          </a:p>
        </p:txBody>
      </p:sp>
      <p:sp>
        <p:nvSpPr>
          <p:cNvPr id="18" name="next 3 circle"/>
          <p:cNvSpPr/>
          <p:nvPr/>
        </p:nvSpPr>
        <p:spPr>
          <a:xfrm>
            <a:off x="640080" y="4818888"/>
            <a:ext cx="384048" cy="384048"/>
          </a:xfrm>
          <a:prstGeom prst="ellipse">
            <a:avLst/>
          </a:prstGeom>
          <a:solidFill>
            <a:schemeClr val="accent1"/>
          </a:solidFill>
          <a:ln w="12700">
            <a:solidFill>
              <a:schemeClr val="accent1"/>
            </a:solidFill>
            <a:prstDash val="solid"/>
          </a:ln>
        </p:spPr>
      </p:sp>
      <p:pic>
        <p:nvPicPr>
          <p:cNvPr id="19" name="next 3 icon" descr="preencoded.png">    </p:cNvPr>
          <p:cNvPicPr>
            <a:picLocks noChangeAspect="1"/>
          </p:cNvPicPr>
          <p:nvPr/>
        </p:nvPicPr>
        <p:blipFill>
          <a:blip r:embed="rId3"/>
          <a:stretch>
            <a:fillRect/>
          </a:stretch>
        </p:blipFill>
        <p:spPr>
          <a:xfrm>
            <a:off x="732252" y="4911060"/>
            <a:ext cx="199705" cy="199705"/>
          </a:xfrm>
          <a:prstGeom prst="rect">
            <a:avLst/>
          </a:prstGeom>
        </p:spPr>
      </p:pic>
      <p:sp>
        <p:nvSpPr>
          <p:cNvPr id="20" name="next text 3"/>
          <p:cNvSpPr txBox="1"/>
          <p:nvPr/>
        </p:nvSpPr>
        <p:spPr>
          <a:xfrm>
            <a:off x="1188720" y="4782312"/>
            <a:ext cx="4846320" cy="457200"/>
          </a:xfrm>
          <a:prstGeom prst="rect">
            <a:avLst/>
          </a:prstGeom>
          <a:noFill/>
          <a:ln/>
        </p:spPr>
        <p:txBody>
          <a:bodyPr wrap="square" lIns="0" tIns="0" rIns="0" bIns="0" rtlCol="0" anchor="ctr"/>
          <a:lstStyle/>
          <a:p>
            <a:pPr indent="0" marL="0">
              <a:buNone/>
            </a:pPr>
            <a:r>
              <a:rPr lang="en-US" sz="1600" dirty="0">
                <a:solidFill>
                  <a:schemeClr val="bg1"/>
                </a:solidFill>
              </a:rPr>
              <a:t>Send the AI only the relevant tables of large databases</a:t>
            </a:r>
            <a:endParaRPr lang="en-US" sz="1600" dirty="0"/>
          </a:p>
        </p:txBody>
      </p:sp>
      <p:sp>
        <p:nvSpPr>
          <p:cNvPr id="21" name="next 4 circle"/>
          <p:cNvSpPr/>
          <p:nvPr/>
        </p:nvSpPr>
        <p:spPr>
          <a:xfrm>
            <a:off x="6217920" y="4818888"/>
            <a:ext cx="384048" cy="384048"/>
          </a:xfrm>
          <a:prstGeom prst="ellipse">
            <a:avLst/>
          </a:prstGeom>
          <a:solidFill>
            <a:schemeClr val="accent1"/>
          </a:solidFill>
          <a:ln w="12700">
            <a:solidFill>
              <a:schemeClr val="accent1"/>
            </a:solidFill>
            <a:prstDash val="solid"/>
          </a:ln>
        </p:spPr>
      </p:sp>
      <p:pic>
        <p:nvPicPr>
          <p:cNvPr id="22" name="next 4 icon" descr="preencoded.png">    </p:cNvPr>
          <p:cNvPicPr>
            <a:picLocks noChangeAspect="1"/>
          </p:cNvPicPr>
          <p:nvPr/>
        </p:nvPicPr>
        <p:blipFill>
          <a:blip r:embed="rId4"/>
          <a:stretch>
            <a:fillRect/>
          </a:stretch>
        </p:blipFill>
        <p:spPr>
          <a:xfrm>
            <a:off x="6310092" y="4911060"/>
            <a:ext cx="199705" cy="199705"/>
          </a:xfrm>
          <a:prstGeom prst="rect">
            <a:avLst/>
          </a:prstGeom>
        </p:spPr>
      </p:pic>
      <p:sp>
        <p:nvSpPr>
          <p:cNvPr id="23" name="next text 4"/>
          <p:cNvSpPr txBox="1"/>
          <p:nvPr/>
        </p:nvSpPr>
        <p:spPr>
          <a:xfrm>
            <a:off x="6766560" y="4782312"/>
            <a:ext cx="4846320" cy="457200"/>
          </a:xfrm>
          <a:prstGeom prst="rect">
            <a:avLst/>
          </a:prstGeom>
          <a:noFill/>
          <a:ln/>
        </p:spPr>
        <p:txBody>
          <a:bodyPr wrap="square" lIns="0" tIns="0" rIns="0" bIns="0" rtlCol="0" anchor="ctr"/>
          <a:lstStyle/>
          <a:p>
            <a:pPr indent="0" marL="0">
              <a:buNone/>
            </a:pPr>
            <a:r>
              <a:rPr lang="en-US" sz="1600" dirty="0">
                <a:solidFill>
                  <a:schemeClr val="bg1"/>
                </a:solidFill>
              </a:rPr>
              <a:t>End-to-end UI tests with Playwright</a:t>
            </a:r>
            <a:endParaRPr lang="en-US" sz="1600" dirty="0"/>
          </a:p>
        </p:txBody>
      </p:sp>
      <p:sp>
        <p:nvSpPr>
          <p:cNvPr id="24" name="thanks"/>
          <p:cNvSpPr txBox="1"/>
          <p:nvPr/>
        </p:nvSpPr>
        <p:spPr>
          <a:xfrm>
            <a:off x="640080" y="5623560"/>
            <a:ext cx="7315200" cy="640080"/>
          </a:xfrm>
          <a:prstGeom prst="rect">
            <a:avLst/>
          </a:prstGeom>
          <a:noFill/>
          <a:ln/>
        </p:spPr>
        <p:txBody>
          <a:bodyPr wrap="square" lIns="0" tIns="0" rIns="0" bIns="0" rtlCol="0" anchor="ctr"/>
          <a:lstStyle/>
          <a:p>
            <a:pPr indent="0" marL="0">
              <a:buNone/>
            </a:pPr>
            <a:r>
              <a:rPr lang="en-US" sz="3000" b="1" dirty="0">
                <a:solidFill>
                  <a:schemeClr val="bg1"/>
                </a:solidFill>
              </a:rPr>
              <a:t>Thank you — questions?</a:t>
            </a:r>
            <a:endParaRPr lang="en-US" sz="3000" dirty="0"/>
          </a:p>
        </p:txBody>
      </p:sp>
      <p:sp>
        <p:nvSpPr>
          <p:cNvPr id="25" name="presenter closing"/>
          <p:cNvSpPr txBox="1"/>
          <p:nvPr/>
        </p:nvSpPr>
        <p:spPr>
          <a:xfrm>
            <a:off x="8229600" y="5623560"/>
            <a:ext cx="3319272" cy="640080"/>
          </a:xfrm>
          <a:prstGeom prst="rect">
            <a:avLst/>
          </a:prstGeom>
          <a:noFill/>
          <a:ln/>
        </p:spPr>
        <p:txBody>
          <a:bodyPr wrap="square" lIns="0" tIns="0" rIns="0" bIns="0" rtlCol="0" anchor="ctr"/>
          <a:lstStyle/>
          <a:p>
            <a:pPr algn="r" indent="0" marL="0">
              <a:buNone/>
            </a:pPr>
            <a:r>
              <a:rPr lang="en-US" sz="1600" dirty="0">
                <a:solidFill>
                  <a:schemeClr val="accent5"/>
                </a:solidFill>
              </a:rPr>
              <a:t>Kapil Sen</a:t>
            </a:r>
            <a:endParaRPr lang="en-US" sz="1600" dirty="0"/>
          </a:p>
        </p:txBody>
      </p:sp>
    </p:spTree>
  </p:cSld>
  <p:clrMapOvr>
    <a:masterClrMapping/>
  </p:clrMapOvr>
</p:sld>
</file>

<file path=ppt/theme/theme1.xml><?xml version="1.0" encoding="utf-8"?>
<a:theme xmlns:a="http://schemas.openxmlformats.org/drawingml/2006/main" name="SQLAnalyst Teal">
  <a:themeElements>
    <a:clrScheme name="SQLAnalyst Teal">
      <a:dk1>
        <a:srgbClr val="0F172A"/>
      </a:dk1>
      <a:lt1>
        <a:srgbClr val="FFFFFF"/>
      </a:lt1>
      <a:dk2>
        <a:srgbClr val="062E2E"/>
      </a:dk2>
      <a:lt2>
        <a:srgbClr val="EEF7F7"/>
      </a:lt2>
      <a:accent1>
        <a:srgbClr val="0E9999"/>
      </a:accent1>
      <a:accent2>
        <a:srgbClr val="085F5F"/>
      </a:accent2>
      <a:accent3>
        <a:srgbClr val="F59E0B"/>
      </a:accent3>
      <a:accent4>
        <a:srgbClr val="6366F1"/>
      </a:accent4>
      <a:accent5>
        <a:srgbClr val="7DD3D4"/>
      </a:accent5>
      <a:accent6>
        <a:srgbClr val="E5484D"/>
      </a:accent6>
      <a:hlink>
        <a:srgbClr val="0E9999"/>
      </a:hlink>
      <a:folHlink>
        <a:srgbClr val="085F5F"/>
      </a:folHlink>
    </a:clrScheme>
    <a:fontScheme name="SQLAnalyst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SQLAnalyst — Trainee Final Evaluation</dc:title>
  <dc:subject>SQLAnalyst project presentation</dc:subject>
  <dc:creator>Kapil Sen</dc:creator>
  <cp:lastModifiedBy>Kapil Sen</cp:lastModifiedBy>
  <cp:revision>1</cp:revision>
  <dcterms:created xsi:type="dcterms:W3CDTF">2026-10-10T09:05:16Z</dcterms:created>
  <dcterms:modified xsi:type="dcterms:W3CDTF">2026-10-10T09:05:16Z</dcterms:modified>
</cp:coreProperties>
</file>